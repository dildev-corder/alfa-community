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2.xml" ContentType="application/vnd.openxmlformats-officedocument.drawingml.chart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Requests</c:v>
          </c:tx>
          <c:spPr>
            <a:solidFill>
              <a:schemeClr val="accent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Safety map</c:v>
              </c:pt>
              <c:pt idx="1">
                <c:v>Emergency contacts</c:v>
              </c:pt>
              <c:pt idx="2">
                <c:v>Issue reporting</c:v>
              </c:pt>
              <c:pt idx="3">
                <c:v>Elephant</c:v>
              </c:pt>
              <c:pt idx="4">
                <c:v>Flood</c:v>
              </c:pt>
              <c:pt idx="5">
                <c:v>Garbage</c:v>
              </c:pt>
              <c:pt idx="6">
                <c:v>GPS</c:v>
              </c:pt>
              <c:pt idx="7">
                <c:v>Landslide</c:v>
              </c:pt>
            </c:strLit>
          </c:cat>
          <c:val>
            <c:numLit>
              <c:formatCode>General</c:formatCode>
              <c:ptCount val="8"/>
              <c:pt idx="0">
                <c:v>75</c:v>
              </c:pt>
              <c:pt idx="1">
                <c:v>50</c:v>
              </c:pt>
              <c:pt idx="2">
                <c:v>50</c:v>
              </c:pt>
              <c:pt idx="3">
                <c:v>25</c:v>
              </c:pt>
              <c:pt idx="4">
                <c:v>25</c:v>
              </c:pt>
              <c:pt idx="5">
                <c:v>25</c:v>
              </c:pt>
              <c:pt idx="6">
                <c:v>25</c:v>
              </c:pt>
              <c:pt idx="7">
                <c:v>25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4865-4717-B74C-DD3CC6AA62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Covered checks</c:v>
          </c:tx>
          <c:spPr>
            <a:solidFill>
              <a:schemeClr val="accent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Login</c:v>
              </c:pt>
              <c:pt idx="1">
                <c:v>Roles</c:v>
              </c:pt>
              <c:pt idx="2">
                <c:v>Reports</c:v>
              </c:pt>
              <c:pt idx="3">
                <c:v>Risk</c:v>
              </c:pt>
              <c:pt idx="4">
                <c:v>Assistant</c:v>
              </c:pt>
            </c:strLit>
          </c:cat>
          <c:val>
            <c:numLit>
              <c:formatCode>General</c:formatCode>
              <c:ptCount val="5"/>
              <c:pt idx="0">
                <c:v>4</c:v>
              </c:pt>
              <c:pt idx="1">
                <c:v>2</c:v>
              </c:pt>
              <c:pt idx="2">
                <c:v>1</c:v>
              </c:pt>
              <c:pt idx="3">
                <c:v>2</c:v>
              </c:pt>
              <c:pt idx="4">
                <c:v>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5DC-4180-8C9B-B91F1A8929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E2E8F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local Alpha Community Flutter project in C:/Users/sa/Desktop/Alfa community.</a:t>
            </a:r>
          </a:p>
          <a:p>
            <a:r>
              <a:t>Image source: user-provided camera hardware photo from Codex temp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Requirement source: D:/requirement gathering/REQUIREMENT_DATASET_DECISION_REPORT.md.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Requirement source: D:/requirement gathering/REQUIREMENT_DATASET_DECISION_REPORT.md; feature counts and respondent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local Flutter implementation and requirement decision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Alpha Community app architecture in lib/src and iot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lib/src/services, lib/src/screens, lib/src/plugins, and iot folders.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Requirement source: D:/requirement gathering/REQUIREMENT_DATASET_DECISION_REPORT.md location-specific alerts.</a:t>
            </a:r>
          </a:p>
          <a:p>
            <a:r>
              <a:t>Implementation source: lib/src/services/module_registry.dart.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lib/src/services/auth_service.dart, lib/src/models/app_user.dart, and role-specific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Requirement source: officer required fields in D:/requirement gathering/REQUIREMENT_DATASET_DECISION_REPORT.md.</a:t>
            </a:r>
          </a:p>
          <a:p>
            <a:r>
              <a:t>Implementation source: lib/src/screens/citizen_work_screen.dart and lib/src/services/community_report_store.dart.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Firebase and local database services in lib/src/services.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lib/src/services/firebase_bootstrap.dart, auth_service.dart, community_report_store.dart, iot_sensor_service.dart, and garbage_bin_sensor_service.dart.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Requirement source: offline/low-data recommendation in D:/requirement gathering/REQUIREMENT_DATASET_DECISION_REPORT.md.</a:t>
            </a:r>
          </a:p>
          <a:p>
            <a:r>
              <a:t>Implementation source: pubspec.yaml dependencies sqflite/shared_preferences and lib/src/services.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iot folder and updated module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iot/README.md and lib/src/services/iot_sensor_service.dart.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lib/src/screens/detection_screen.dart, lib/src/services/elephant_detector.dart, and ezviz_camera_service.dart.</a:t>
            </a:r>
          </a:p>
          <a:p>
            <a:r>
              <a:t>Image source: user-provided app screenshot from Codex temp attachment.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lib/src/plugins/flood/flood_screen.dart and lib/src/services/risk_engine.dart.</a:t>
            </a:r>
          </a:p>
          <a:p>
            <a:r>
              <a:t>Visual source: final-style dashboard mockup based on updated Flutter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lib/src/plugins/landslide/landslide_screen.dart and lib/src/services/iot_sensor_service.dart.</a:t>
            </a:r>
          </a:p>
          <a:p>
            <a:r>
              <a:t>Visual source: final-style dashboard mockup based on updated Flutter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lib/src/plugins/garbage/garbage_screen.dart, garbage_bin_sensor_service.dart, garbage_classifier.dart, and iot garbage firmware.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AI services and model asset paths in lib/src/services and lib/src/plugins.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assets/models references in Flutter plugins and risk_engine.dart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ML design based on app model asset paths and dataset decision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pubspec.yaml tflite_flutter dependency and lib/src/services/citizen_assistant_service.dart.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auth_service.dart, app_user.dart, auth_gate.dart, login and admin screens.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Implementation source: lib/src/screens and lib/src/plugins.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Verification source: latest local command outputs in this Codex task.</a:t>
            </a:r>
          </a:p>
          <a:p>
            <a:r>
              <a:t>Implementation source: test/widget_test.dart.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Flutter build configuration, Firebase config, and app deployment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Requirement source: D:/requirement gathering/REQUIREMENT_DATASET_DECISION_REPORT.md roadmap and offline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Project source: final Alpha Community app features implemented in local workspace.</a:t>
            </a:r>
          </a:p>
          <a:p>
            <a:r>
              <a:t>Visual source: final-style app mockup based on implemented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8C5BF2A6-9A3C-4BB9-9A39-D2310BF79BF7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6205BA5-72CA-42B7-9936-4EDD28583D93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DF6A8-CD4C-4D34-AC88-26806319F4C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6FD0E82-DD7D-406E-849D-863DB79A2B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12352A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0389A0-D1B0-49CB-BE24-70F835B28E2F}"/>
              </a:ext>
            </a:extLst>
          </p:cNvPr>
          <p:cNvSpPr>
            <a:spLocks noGrp="1"/>
          </p:cNvSpPr>
          <p:nvPr/>
        </p:nvSpPr>
        <p:spPr>
          <a:xfrm>
            <a:off x="7810500" y="0"/>
            <a:ext cx="4381500" cy="6858000"/>
          </a:xfrm>
          <a:prstGeom prst="roundRect">
            <a:avLst>
              <a:gd name="adj" fmla="val 3478"/>
            </a:avLst>
          </a:prstGeom>
          <a:solidFill>
            <a:srgbClr val="0F875F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F6A143-537D-4367-89E8-505C9A8591A7}"/>
              </a:ext>
            </a:extLst>
          </p:cNvPr>
          <p:cNvSpPr>
            <a:spLocks noGrp="1"/>
          </p:cNvSpPr>
          <p:nvPr/>
        </p:nvSpPr>
        <p:spPr>
          <a:xfrm>
            <a:off x="685800" y="990600"/>
            <a:ext cx="6286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ALPHA COMMUNITY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477CC1-7ED6-441B-92D9-7D3F1D9EF7F1}"/>
              </a:ext>
            </a:extLst>
          </p:cNvPr>
          <p:cNvSpPr>
            <a:spLocks noGrp="1"/>
          </p:cNvSpPr>
          <p:nvPr/>
        </p:nvSpPr>
        <p:spPr>
          <a:xfrm>
            <a:off x="723900" y="1790700"/>
            <a:ext cx="571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D7F1E3"/>
                </a:solidFill>
              </a:defRPr>
            </a:pPr>
            <a:r>
              <a:rPr sz="2100" b="0">
                <a:solidFill>
                  <a:srgbClr val="D7F1E3"/>
                </a:solidFill>
              </a:rPr>
              <a:t>Smart Intelligence for Every Community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A978A5-A811-49B5-913E-A26EB61299D8}"/>
              </a:ext>
            </a:extLst>
          </p:cNvPr>
          <p:cNvSpPr>
            <a:spLocks noGrp="1"/>
          </p:cNvSpPr>
          <p:nvPr/>
        </p:nvSpPr>
        <p:spPr>
          <a:xfrm>
            <a:off x="742950" y="3143250"/>
            <a:ext cx="5905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1FFF7"/>
                </a:solidFill>
              </a:defRPr>
            </a:pPr>
            <a:r>
              <a:rPr sz="1875" b="0">
                <a:solidFill>
                  <a:srgbClr val="F1FFF7"/>
                </a:solidFill>
              </a:rPr>
              <a:t>- World citizen safety mobile app</a:t>
            </a:r>
          </a:p>
          <a:p>
            <a:pPr algn="l">
              <a:defRPr sz="1875" b="0">
                <a:solidFill>
                  <a:srgbClr val="F1FFF7"/>
                </a:solidFill>
              </a:defRPr>
            </a:pPr>
            <a:r>
              <a:rPr sz="1875" b="0">
                <a:solidFill>
                  <a:srgbClr val="F1FFF7"/>
                </a:solidFill>
              </a:rPr>
              <a:t>- AI, IoT, Firebase, offline database, and role-based response</a:t>
            </a:r>
          </a:p>
          <a:p>
            <a:pPr algn="l">
              <a:defRPr sz="1875" b="0">
                <a:solidFill>
                  <a:srgbClr val="F1FFF7"/>
                </a:solidFill>
              </a:defRPr>
            </a:pPr>
            <a:r>
              <a:rPr sz="1875" b="0">
                <a:solidFill>
                  <a:srgbClr val="F1FFF7"/>
                </a:solidFill>
              </a:rPr>
              <a:t>- Elephant, flood, landslide, garbage, reports, map, and assistant</a:t>
            </a:r>
          </a:p>
        </p:txBody>
      </p:sp>
    </p:spTree>
    <p:extLst>
      <p:ext uri="{BB962C8B-B14F-4D97-AF65-F5344CB8AC3E}">
        <p14:creationId xmlns:p14="http://schemas.microsoft.com/office/powerpoint/2010/main" val="138519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26D1B70D-CBC0-4B8F-845D-BC7D534BFD2A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3DA124-FAA8-4E6D-8581-4B9057DE1CC5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7C9E7C-719E-4D3D-ACED-D478CF6F91B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5D7FB-CE06-4C6C-A065-607966B9C23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1DB547-93A8-4E48-A2AB-4BE11CADEFC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Communities need faster local risk response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FEF67-B4DA-4025-91CD-B3FA9886410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focuses on practical safety problems that citizens and officers can act 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573857-F5C9-4E56-88C9-80892BC6AE7F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333375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AFA746-BAA2-46FD-B13A-B741EE44A16B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C84630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008309-45B2-4A69-9117-09DF216D0C76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Citizen pain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48A6B0-757F-4E2C-AD77-F72D2FB1D950}"/>
              </a:ext>
            </a:extLst>
          </p:cNvPr>
          <p:cNvSpPr>
            <a:spLocks noGrp="1"/>
          </p:cNvSpPr>
          <p:nvPr/>
        </p:nvSpPr>
        <p:spPr>
          <a:xfrm>
            <a:off x="990600" y="3448050"/>
            <a:ext cx="2876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Late alerts, difficult public reporting, unclear emergency contacts, and weak internet in field areas.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94305C-094D-4E1B-9080-8EB021E33015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333375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7AA1CE-AF30-4E64-B926-686F38814572}"/>
              </a:ext>
            </a:extLst>
          </p:cNvPr>
          <p:cNvSpPr>
            <a:spLocks noGrp="1"/>
          </p:cNvSpPr>
          <p:nvPr/>
        </p:nvSpPr>
        <p:spPr>
          <a:xfrm>
            <a:off x="4429125" y="285750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41456C-AA98-4586-B4FB-8755EEB7A873}"/>
              </a:ext>
            </a:extLst>
          </p:cNvPr>
          <p:cNvSpPr>
            <a:spLocks noGrp="1"/>
          </p:cNvSpPr>
          <p:nvPr/>
        </p:nvSpPr>
        <p:spPr>
          <a:xfrm>
            <a:off x="4657725" y="30480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Officer pain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E0E32A-AEF0-46AC-8C58-89FA8FF97C74}"/>
              </a:ext>
            </a:extLst>
          </p:cNvPr>
          <p:cNvSpPr>
            <a:spLocks noGrp="1"/>
          </p:cNvSpPr>
          <p:nvPr/>
        </p:nvSpPr>
        <p:spPr>
          <a:xfrm>
            <a:off x="4657725" y="3448050"/>
            <a:ext cx="2876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Reports need GPS, photo, date/time, description, and contact number before action can begin.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A0D117-5A90-48C0-AEE7-25FC3211BEA6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333375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C28B9B0-98B3-4699-99DE-E81BD16149A4}"/>
              </a:ext>
            </a:extLst>
          </p:cNvPr>
          <p:cNvSpPr>
            <a:spLocks noGrp="1"/>
          </p:cNvSpPr>
          <p:nvPr/>
        </p:nvSpPr>
        <p:spPr>
          <a:xfrm>
            <a:off x="8096250" y="2857500"/>
            <a:ext cx="76200" cy="18097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7BA9F7-4C64-47E8-BAD5-9319337FDC04}"/>
              </a:ext>
            </a:extLst>
          </p:cNvPr>
          <p:cNvSpPr>
            <a:spLocks noGrp="1"/>
          </p:cNvSpPr>
          <p:nvPr/>
        </p:nvSpPr>
        <p:spPr>
          <a:xfrm>
            <a:off x="8324850" y="3048000"/>
            <a:ext cx="2876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System gap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F3EC30-907B-49A2-82D1-89E6F2CA7A3E}"/>
              </a:ext>
            </a:extLst>
          </p:cNvPr>
          <p:cNvSpPr>
            <a:spLocks noGrp="1"/>
          </p:cNvSpPr>
          <p:nvPr/>
        </p:nvSpPr>
        <p:spPr>
          <a:xfrm>
            <a:off x="8324850" y="3448050"/>
            <a:ext cx="2876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Disaster, waste, wildlife, and public issue data are usually separated instead of connected.</a:t>
            </a:r>
          </a:p>
        </p:txBody>
      </p:sp>
    </p:spTree>
    <p:extLst>
      <p:ext uri="{BB962C8B-B14F-4D97-AF65-F5344CB8AC3E}">
        <p14:creationId xmlns:p14="http://schemas.microsoft.com/office/powerpoint/2010/main" val="764596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27F6E603-5276-46CA-9C19-B0864A31D2A2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906909C-C72C-4B77-9AE0-9932EBDBA7CB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43B500-CB90-4747-9FA2-06F67FC8F40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C4E5A5-55BD-4A2C-8118-B95A51D9A1B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C9EC1-874D-40D1-90BA-D966EC0BAE3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Survey data shaped the first useful version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79325-9845-443C-8136-D856757BCF6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127 records were analyzed across citizen and officer respondents.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="904875" y="2476500"/>
          <a:ext cx="6477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67098D-BB2B-40D0-8429-4B2815D6A302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3143250" cy="1381125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9B12A3-86D7-40BE-AD52-83F7A4764180}"/>
              </a:ext>
            </a:extLst>
          </p:cNvPr>
          <p:cNvSpPr>
            <a:spLocks noGrp="1"/>
          </p:cNvSpPr>
          <p:nvPr/>
        </p:nvSpPr>
        <p:spPr>
          <a:xfrm>
            <a:off x="7905750" y="2476500"/>
            <a:ext cx="76200" cy="1381125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A1348-2793-4F60-A040-AFCE9AC0948A}"/>
              </a:ext>
            </a:extLst>
          </p:cNvPr>
          <p:cNvSpPr>
            <a:spLocks noGrp="1"/>
          </p:cNvSpPr>
          <p:nvPr/>
        </p:nvSpPr>
        <p:spPr>
          <a:xfrm>
            <a:off x="8134350" y="2667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Dataset coverage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2DEB75-F61A-4FC7-A069-F52C5519EDE7}"/>
              </a:ext>
            </a:extLst>
          </p:cNvPr>
          <p:cNvSpPr>
            <a:spLocks noGrp="1"/>
          </p:cNvSpPr>
          <p:nvPr/>
        </p:nvSpPr>
        <p:spPr>
          <a:xfrm>
            <a:off x="8134350" y="3067050"/>
            <a:ext cx="2686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100 citizen records, 26 officer records, and 1 database check record across six Sri Lankan locations.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7E6FD3-D223-425F-8AC5-AF644D4F168F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31432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5514D-F8B1-4ED2-82FA-3A603DDF5C9C}"/>
              </a:ext>
            </a:extLst>
          </p:cNvPr>
          <p:cNvSpPr>
            <a:spLocks noGrp="1"/>
          </p:cNvSpPr>
          <p:nvPr/>
        </p:nvSpPr>
        <p:spPr>
          <a:xfrm>
            <a:off x="7905750" y="40957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819EE6-279F-4205-B092-0D76B88C9A89}"/>
              </a:ext>
            </a:extLst>
          </p:cNvPr>
          <p:cNvSpPr>
            <a:spLocks noGrp="1"/>
          </p:cNvSpPr>
          <p:nvPr/>
        </p:nvSpPr>
        <p:spPr>
          <a:xfrm>
            <a:off x="8134350" y="42862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Product decision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EFB2F9-337A-4D72-9B2E-AF7403081C71}"/>
              </a:ext>
            </a:extLst>
          </p:cNvPr>
          <p:cNvSpPr>
            <a:spLocks noGrp="1"/>
          </p:cNvSpPr>
          <p:nvPr/>
        </p:nvSpPr>
        <p:spPr>
          <a:xfrm>
            <a:off x="8134350" y="4686300"/>
            <a:ext cx="268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Prioritize safety map, issue reporting, emergency contacts, location-based alerts, and officer dashboard.</a:t>
            </a:r>
          </a:p>
        </p:txBody>
      </p:sp>
    </p:spTree>
    <p:extLst>
      <p:ext uri="{BB962C8B-B14F-4D97-AF65-F5344CB8AC3E}">
        <p14:creationId xmlns:p14="http://schemas.microsoft.com/office/powerpoint/2010/main" val="158513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B45E1F3B-428A-4890-8824-82FE9C577015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C5976F0-F7A8-432C-A886-88390D6C19D8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76747B-2C3E-40D3-B59C-A48F2214281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987510-F8A4-4FDA-B80B-2D97C0E5D1C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919810-40CF-4471-B332-0693F0666CD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The project is explained by 5W + 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0B6B36-13C7-4E69-8B8B-262A97E18D0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A clear technical and general explanation for presentation defense.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2414F5-3D23-46F5-BBC1-769565EBAF9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143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2D52806-8892-4975-926B-7D3DAF751396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2D4F8C-10F3-4924-A129-AC107A75D408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What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C5B890-58CA-4365-93D0-0AE38E4FEEEB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Smart citizen safety and monitoring app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20CED8-E314-4C7E-813B-6B0195EF7312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3143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72B83B-7FA8-47BB-9BB2-251D633B77E1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8F54F3-36B1-4D35-B860-1F04A219CFED}"/>
              </a:ext>
            </a:extLst>
          </p:cNvPr>
          <p:cNvSpPr>
            <a:spLocks noGrp="1"/>
          </p:cNvSpPr>
          <p:nvPr/>
        </p:nvSpPr>
        <p:spPr>
          <a:xfrm>
            <a:off x="4610100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Why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E275F2-33CB-4396-8E2F-B0045585C4D0}"/>
              </a:ext>
            </a:extLst>
          </p:cNvPr>
          <p:cNvSpPr>
            <a:spLocks noGrp="1"/>
          </p:cNvSpPr>
          <p:nvPr/>
        </p:nvSpPr>
        <p:spPr>
          <a:xfrm>
            <a:off x="4610100" y="297180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Reduce late alerts and improve public response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34256D-60A1-4784-8135-A638AC35477F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143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F53710-91E3-442E-AB20-371AB6349F25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E5E0D4-737C-4700-A0CE-F15635943D08}"/>
              </a:ext>
            </a:extLst>
          </p:cNvPr>
          <p:cNvSpPr>
            <a:spLocks noGrp="1"/>
          </p:cNvSpPr>
          <p:nvPr/>
        </p:nvSpPr>
        <p:spPr>
          <a:xfrm>
            <a:off x="8229600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Who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768767-D9CE-48A0-9475-3D81C23E8A7E}"/>
              </a:ext>
            </a:extLst>
          </p:cNvPr>
          <p:cNvSpPr>
            <a:spLocks noGrp="1"/>
          </p:cNvSpPr>
          <p:nvPr/>
        </p:nvSpPr>
        <p:spPr>
          <a:xfrm>
            <a:off x="8229600" y="297180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Citizens, officers, admins, local authorities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AEA2B0-09F9-456C-9329-4AE7E25E39E2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3143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B811F2-6026-432F-9795-65D2C02B7C86}"/>
              </a:ext>
            </a:extLst>
          </p:cNvPr>
          <p:cNvSpPr>
            <a:spLocks noGrp="1"/>
          </p:cNvSpPr>
          <p:nvPr/>
        </p:nvSpPr>
        <p:spPr>
          <a:xfrm>
            <a:off x="762000" y="400050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9BA8CE-537C-4285-B7F8-B89F42A28D92}"/>
              </a:ext>
            </a:extLst>
          </p:cNvPr>
          <p:cNvSpPr>
            <a:spLocks noGrp="1"/>
          </p:cNvSpPr>
          <p:nvPr/>
        </p:nvSpPr>
        <p:spPr>
          <a:xfrm>
            <a:off x="990600" y="4191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Where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6CA26B-34AB-4028-9811-E407C8DC7A90}"/>
              </a:ext>
            </a:extLst>
          </p:cNvPr>
          <p:cNvSpPr>
            <a:spLocks noGrp="1"/>
          </p:cNvSpPr>
          <p:nvPr/>
        </p:nvSpPr>
        <p:spPr>
          <a:xfrm>
            <a:off x="990600" y="459105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Villages, towns, hazard areas, smart bins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F28211-01D9-4B99-8DEA-EB3001A23799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3143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4617D94-A2D8-41A7-8A04-8BCC320E8C14}"/>
              </a:ext>
            </a:extLst>
          </p:cNvPr>
          <p:cNvSpPr>
            <a:spLocks noGrp="1"/>
          </p:cNvSpPr>
          <p:nvPr/>
        </p:nvSpPr>
        <p:spPr>
          <a:xfrm>
            <a:off x="4381500" y="400050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26FBF3-5F87-4EEC-ACA4-A3A2D8929485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When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879784-8D11-4A74-BC4F-40850082F0B4}"/>
              </a:ext>
            </a:extLst>
          </p:cNvPr>
          <p:cNvSpPr>
            <a:spLocks noGrp="1"/>
          </p:cNvSpPr>
          <p:nvPr/>
        </p:nvSpPr>
        <p:spPr>
          <a:xfrm>
            <a:off x="4610100" y="459105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Daily reporting, emergencies, field monitoring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65A1099-8D54-4CCA-9492-2C6D3A0233FD}"/>
              </a:ext>
            </a:extLst>
          </p:cNvPr>
          <p:cNvSpPr>
            <a:spLocks noGrp="1"/>
          </p:cNvSpPr>
          <p:nvPr/>
        </p:nvSpPr>
        <p:spPr>
          <a:xfrm>
            <a:off x="8001000" y="4000500"/>
            <a:ext cx="3143250" cy="123825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988D29D-2C66-41DC-9701-CC1F1E08A00D}"/>
              </a:ext>
            </a:extLst>
          </p:cNvPr>
          <p:cNvSpPr>
            <a:spLocks noGrp="1"/>
          </p:cNvSpPr>
          <p:nvPr/>
        </p:nvSpPr>
        <p:spPr>
          <a:xfrm>
            <a:off x="8001000" y="4000500"/>
            <a:ext cx="76200" cy="123825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69510F-821F-4093-B34A-E5D79F77C991}"/>
              </a:ext>
            </a:extLst>
          </p:cNvPr>
          <p:cNvSpPr>
            <a:spLocks noGrp="1"/>
          </p:cNvSpPr>
          <p:nvPr/>
        </p:nvSpPr>
        <p:spPr>
          <a:xfrm>
            <a:off x="8229600" y="4191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How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12F9A-81C3-4A70-9502-314268EC5EB1}"/>
              </a:ext>
            </a:extLst>
          </p:cNvPr>
          <p:cNvSpPr>
            <a:spLocks noGrp="1"/>
          </p:cNvSpPr>
          <p:nvPr/>
        </p:nvSpPr>
        <p:spPr>
          <a:xfrm>
            <a:off x="8229600" y="4591050"/>
            <a:ext cx="2686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Flutter, IoT, Firebase, offline DB, AI models</a:t>
            </a:r>
          </a:p>
        </p:txBody>
      </p:sp>
    </p:spTree>
    <p:extLst>
      <p:ext uri="{BB962C8B-B14F-4D97-AF65-F5344CB8AC3E}">
        <p14:creationId xmlns:p14="http://schemas.microsoft.com/office/powerpoint/2010/main" val="322292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C6F1A6C-0DCC-41C9-9D59-8424ABAA4E15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30FBE5-08A3-4FDC-ADE6-DC18CA20F7E5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26881B-0087-488C-AEB5-96AC6BECDB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12352A"/>
          </a:solidFill>
          <a:ln w="0">
            <a:noFill/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FFE29C6-241D-4E5B-A1E7-BE8A455CED94}"/>
              </a:ext>
            </a:extLst>
          </p:cNvPr>
          <p:cNvSpPr>
            <a:spLocks noGrp="1"/>
          </p:cNvSpPr>
          <p:nvPr/>
        </p:nvSpPr>
        <p:spPr>
          <a:xfrm>
            <a:off x="8572500" y="857250"/>
            <a:ext cx="2381250" cy="238125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FBE685F-AEC0-4222-A440-36DC71F3F62A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1524000" cy="1524000"/>
          </a:xfrm>
          <a:prstGeom prst="ellipse">
            <a:avLst/>
          </a:prstGeom>
          <a:solidFill>
            <a:srgbClr val="FFFFFF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EC6784-9542-4D0F-99F4-49D62EA8F93A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9DD8BD"/>
                </a:solidFill>
              </a:defRPr>
            </a:pPr>
            <a:r>
              <a:rPr sz="1200" b="1">
                <a:solidFill>
                  <a:srgbClr val="9DD8BD"/>
                </a:solidFill>
              </a:rPr>
              <a:t>SYSTEM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DF7556-A2FF-4B31-929F-B7516E6A99F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One app connects people, sensors, AI, and officers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A5875-9EE3-4FAD-8326-DF2B6EDE2279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The app is not only a dashboard; it is a response workflow.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Each module uses location relevance and operational role access.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Online and offline data paths keep the system usable in field areas.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72F590-9CD2-4865-98C2-DED6FCFD4657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DD8BD"/>
                </a:solidFill>
              </a:defRPr>
            </a:pPr>
            <a:r>
              <a:rPr sz="1050" b="0">
                <a:solidFill>
                  <a:srgbClr val="9DD8BD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1477523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C95B2DEF-632A-43F6-A2B7-54C8E5727856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9DCA902-210B-42F7-B575-0AB60948C434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A6051-1322-425F-9194-AA0A36579A8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2336DE-6E30-44DF-B5DA-4DBCFED5637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DE2F1A-58AD-4F78-B3E7-D6F9874EEE0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Architecture connects field data to action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8CC7DC-0B8A-4C31-9160-34002D731FF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system converts reports and sensor readings into role-specific decisions.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2FD4C9-5C30-43CC-98D6-5B75940FDDA8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381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312D2D-9020-44E1-A399-5625F132718E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0C59C2-C3AB-42A2-ABA1-595C5DFB66B1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Citizens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744DA4-A8E6-47B4-802F-617995C461DB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NIC login, reports, GPS, photos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03DAF6-3C00-4C6C-88BC-7B614EC5DBF5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2381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1B087A-ED6C-4753-918E-D3C1D1788474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3CE795-07B6-4D5E-9963-89804AF95AB3}"/>
              </a:ext>
            </a:extLst>
          </p:cNvPr>
          <p:cNvSpPr>
            <a:spLocks noGrp="1"/>
          </p:cNvSpPr>
          <p:nvPr/>
        </p:nvSpPr>
        <p:spPr>
          <a:xfrm>
            <a:off x="3657600" y="25717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IoT devices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34B31-87E9-4ACE-AAB9-FF3F3F271BCA}"/>
              </a:ext>
            </a:extLst>
          </p:cNvPr>
          <p:cNvSpPr>
            <a:spLocks noGrp="1"/>
          </p:cNvSpPr>
          <p:nvPr/>
        </p:nvSpPr>
        <p:spPr>
          <a:xfrm>
            <a:off x="3657600" y="297180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Camera, bin, water, soil, beam readings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0145C5-E182-4088-9D44-8B6618BF87A7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2381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F885B3B-6BEA-4E33-82B1-298DA5486380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A18D54-FFC6-4063-96CA-97AD807FBDA6}"/>
              </a:ext>
            </a:extLst>
          </p:cNvPr>
          <p:cNvSpPr>
            <a:spLocks noGrp="1"/>
          </p:cNvSpPr>
          <p:nvPr/>
        </p:nvSpPr>
        <p:spPr>
          <a:xfrm>
            <a:off x="6419850" y="25717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Firebase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61F533-7929-43C6-96C9-DE7B59096D18}"/>
              </a:ext>
            </a:extLst>
          </p:cNvPr>
          <p:cNvSpPr>
            <a:spLocks noGrp="1"/>
          </p:cNvSpPr>
          <p:nvPr/>
        </p:nvSpPr>
        <p:spPr>
          <a:xfrm>
            <a:off x="6419850" y="297180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Cloud sync, users, reports, alerts, sensor data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EAC3DA-7F2B-45AF-B954-45008A56DBB1}"/>
              </a:ext>
            </a:extLst>
          </p:cNvPr>
          <p:cNvSpPr>
            <a:spLocks noGrp="1"/>
          </p:cNvSpPr>
          <p:nvPr/>
        </p:nvSpPr>
        <p:spPr>
          <a:xfrm>
            <a:off x="8953500" y="2381250"/>
            <a:ext cx="2381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A821EA-9569-4808-964C-5394EC726F2F}"/>
              </a:ext>
            </a:extLst>
          </p:cNvPr>
          <p:cNvSpPr>
            <a:spLocks noGrp="1"/>
          </p:cNvSpPr>
          <p:nvPr/>
        </p:nvSpPr>
        <p:spPr>
          <a:xfrm>
            <a:off x="8953500" y="2381250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11855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0702F7-6C5D-4D9E-89EB-3F9A4567A329}"/>
              </a:ext>
            </a:extLst>
          </p:cNvPr>
          <p:cNvSpPr>
            <a:spLocks noGrp="1"/>
          </p:cNvSpPr>
          <p:nvPr/>
        </p:nvSpPr>
        <p:spPr>
          <a:xfrm>
            <a:off x="9182100" y="2571750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Mobile app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89738B-6D74-4E30-9141-4128A116ADBD}"/>
              </a:ext>
            </a:extLst>
          </p:cNvPr>
          <p:cNvSpPr>
            <a:spLocks noGrp="1"/>
          </p:cNvSpPr>
          <p:nvPr/>
        </p:nvSpPr>
        <p:spPr>
          <a:xfrm>
            <a:off x="9182100" y="2971800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AI modules, dashboards, offline cache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2A9E3C4-D044-47E9-B6E5-B40117445191}"/>
              </a:ext>
            </a:extLst>
          </p:cNvPr>
          <p:cNvSpPr>
            <a:spLocks noGrp="1"/>
          </p:cNvSpPr>
          <p:nvPr/>
        </p:nvSpPr>
        <p:spPr>
          <a:xfrm>
            <a:off x="4810125" y="4524375"/>
            <a:ext cx="2381250" cy="1219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0DCAC61-1680-4932-9D12-ECB91802E127}"/>
              </a:ext>
            </a:extLst>
          </p:cNvPr>
          <p:cNvSpPr>
            <a:spLocks noGrp="1"/>
          </p:cNvSpPr>
          <p:nvPr/>
        </p:nvSpPr>
        <p:spPr>
          <a:xfrm>
            <a:off x="4810125" y="4524375"/>
            <a:ext cx="76200" cy="1219200"/>
          </a:xfrm>
          <a:prstGeom prst="roundRect">
            <a:avLst>
              <a:gd name="adj" fmla="val 50000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24767-E1C4-4651-8C8C-DA29781A54A0}"/>
              </a:ext>
            </a:extLst>
          </p:cNvPr>
          <p:cNvSpPr>
            <a:spLocks noGrp="1"/>
          </p:cNvSpPr>
          <p:nvPr/>
        </p:nvSpPr>
        <p:spPr>
          <a:xfrm>
            <a:off x="5038725" y="4714875"/>
            <a:ext cx="1924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Officers/Admin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AE3599-1737-4D1D-A917-F9D800949D48}"/>
              </a:ext>
            </a:extLst>
          </p:cNvPr>
          <p:cNvSpPr>
            <a:spLocks noGrp="1"/>
          </p:cNvSpPr>
          <p:nvPr/>
        </p:nvSpPr>
        <p:spPr>
          <a:xfrm>
            <a:off x="5038725" y="5114925"/>
            <a:ext cx="1924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Review, assign, clear bins, control users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B1A164-EB45-4AED-AF5A-5752D825D2AC}"/>
              </a:ext>
            </a:extLst>
          </p:cNvPr>
          <p:cNvSpPr>
            <a:spLocks noGrp="1"/>
          </p:cNvSpPr>
          <p:nvPr/>
        </p:nvSpPr>
        <p:spPr>
          <a:xfrm>
            <a:off x="3048000" y="2724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D6B63"/>
                </a:solidFill>
              </a:defRPr>
            </a:pPr>
            <a:r>
              <a:rPr sz="2550" b="1">
                <a:solidFill>
                  <a:srgbClr val="5D6B63"/>
                </a:solidFill>
              </a:rPr>
              <a:t>-&gt;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75D0DA-9D04-444A-B947-372E7288747C}"/>
              </a:ext>
            </a:extLst>
          </p:cNvPr>
          <p:cNvSpPr>
            <a:spLocks noGrp="1"/>
          </p:cNvSpPr>
          <p:nvPr/>
        </p:nvSpPr>
        <p:spPr>
          <a:xfrm>
            <a:off x="5810250" y="2724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D6B63"/>
                </a:solidFill>
              </a:defRPr>
            </a:pPr>
            <a:r>
              <a:rPr sz="2550" b="1">
                <a:solidFill>
                  <a:srgbClr val="5D6B63"/>
                </a:solidFill>
              </a:rPr>
              <a:t>-&gt;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1FFCED-C3AA-4183-8FFC-A41832E77824}"/>
              </a:ext>
            </a:extLst>
          </p:cNvPr>
          <p:cNvSpPr>
            <a:spLocks noGrp="1"/>
          </p:cNvSpPr>
          <p:nvPr/>
        </p:nvSpPr>
        <p:spPr>
          <a:xfrm>
            <a:off x="8572500" y="27241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5D6B63"/>
                </a:solidFill>
              </a:defRPr>
            </a:pPr>
            <a:r>
              <a:rPr sz="2550" b="1">
                <a:solidFill>
                  <a:srgbClr val="5D6B63"/>
                </a:solidFill>
              </a:rPr>
              <a:t>-&gt;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AB723E-32B7-4E93-9610-316D66AC691E}"/>
              </a:ext>
            </a:extLst>
          </p:cNvPr>
          <p:cNvSpPr>
            <a:spLocks noGrp="1"/>
          </p:cNvSpPr>
          <p:nvPr/>
        </p:nvSpPr>
        <p:spPr>
          <a:xfrm>
            <a:off x="5391150" y="4076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A6B49"/>
                </a:solidFill>
              </a:defRPr>
            </a:pPr>
            <a:r>
              <a:rPr sz="1350" b="1">
                <a:solidFill>
                  <a:srgbClr val="0A6B49"/>
                </a:solidFill>
              </a:rPr>
              <a:t>response loop</a:t>
            </a:r>
          </a:p>
        </p:txBody>
      </p:sp>
    </p:spTree>
    <p:extLst>
      <p:ext uri="{BB962C8B-B14F-4D97-AF65-F5344CB8AC3E}">
        <p14:creationId xmlns:p14="http://schemas.microsoft.com/office/powerpoint/2010/main" val="31158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C3032049-8769-42A1-9AEE-467CD1EBBB69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B1730B-C63D-423C-AD2B-D9AA10C56D1F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BE9CD8-A8F7-4A5B-9C59-4106CC33D7F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21A97F-8A89-4C20-95DE-731EBE5FC72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CE923-8637-4B42-A021-44607C3F339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Location decides which modules matter first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9853F6-DBFB-4B9D-A51B-A1B0C4AD8C77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avoids showing every risk equally to every citizen.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0F641-ED85-4D8A-8EC8-E7B6FBB86292}"/>
              </a:ext>
            </a:extLst>
          </p:cNvPr>
          <p:cNvSpPr>
            <a:spLocks noGrp="1"/>
          </p:cNvSpPr>
          <p:nvPr/>
        </p:nvSpPr>
        <p:spPr>
          <a:xfrm>
            <a:off x="1000125" y="22383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A6B49"/>
                </a:solidFill>
              </a:defRPr>
            </a:pPr>
            <a:r>
              <a:rPr sz="1800" b="1">
                <a:solidFill>
                  <a:srgbClr val="0A6B49"/>
                </a:solidFill>
              </a:rPr>
              <a:t>Ampara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7B5412-31A8-4D27-B379-5EC0C348BB66}"/>
              </a:ext>
            </a:extLst>
          </p:cNvPr>
          <p:cNvSpPr>
            <a:spLocks noGrp="1"/>
          </p:cNvSpPr>
          <p:nvPr/>
        </p:nvSpPr>
        <p:spPr>
          <a:xfrm>
            <a:off x="3143250" y="223837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2352A"/>
                </a:solidFill>
              </a:defRPr>
            </a:pPr>
            <a:r>
              <a:rPr sz="1650" b="0">
                <a:solidFill>
                  <a:srgbClr val="12352A"/>
                </a:solidFill>
              </a:rPr>
              <a:t>Elephant alerts, rural road safety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4CC0D06-15CB-4231-8039-4317523DE393}"/>
              </a:ext>
            </a:extLst>
          </p:cNvPr>
          <p:cNvSpPr>
            <a:spLocks noGrp="1"/>
          </p:cNvSpPr>
          <p:nvPr/>
        </p:nvSpPr>
        <p:spPr>
          <a:xfrm>
            <a:off x="904875" y="2638425"/>
            <a:ext cx="9620250" cy="9525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F9A106-A329-43C7-B8D0-C09761B75D49}"/>
              </a:ext>
            </a:extLst>
          </p:cNvPr>
          <p:cNvSpPr>
            <a:spLocks noGrp="1"/>
          </p:cNvSpPr>
          <p:nvPr/>
        </p:nvSpPr>
        <p:spPr>
          <a:xfrm>
            <a:off x="1000125" y="27908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A6B49"/>
                </a:solidFill>
              </a:defRPr>
            </a:pPr>
            <a:r>
              <a:rPr sz="1800" b="1">
                <a:solidFill>
                  <a:srgbClr val="0A6B49"/>
                </a:solidFill>
              </a:rPr>
              <a:t>Mahiyanganaya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5DBDB7-876E-4075-9CB0-5D398F0E6F5F}"/>
              </a:ext>
            </a:extLst>
          </p:cNvPr>
          <p:cNvSpPr>
            <a:spLocks noGrp="1"/>
          </p:cNvSpPr>
          <p:nvPr/>
        </p:nvSpPr>
        <p:spPr>
          <a:xfrm>
            <a:off x="3143250" y="279082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2352A"/>
                </a:solidFill>
              </a:defRPr>
            </a:pPr>
            <a:r>
              <a:rPr sz="1650" b="0">
                <a:solidFill>
                  <a:srgbClr val="12352A"/>
                </a:solidFill>
              </a:rPr>
              <a:t>Elephant alerts, rural road safety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0625D5-CB4D-40BC-976D-9427AB11950D}"/>
              </a:ext>
            </a:extLst>
          </p:cNvPr>
          <p:cNvSpPr>
            <a:spLocks noGrp="1"/>
          </p:cNvSpPr>
          <p:nvPr/>
        </p:nvSpPr>
        <p:spPr>
          <a:xfrm>
            <a:off x="904875" y="3190875"/>
            <a:ext cx="9620250" cy="9525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B52EBC-760D-4239-81ED-89AE8C582365}"/>
              </a:ext>
            </a:extLst>
          </p:cNvPr>
          <p:cNvSpPr>
            <a:spLocks noGrp="1"/>
          </p:cNvSpPr>
          <p:nvPr/>
        </p:nvSpPr>
        <p:spPr>
          <a:xfrm>
            <a:off x="1000125" y="33432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A6B49"/>
                </a:solidFill>
              </a:defRPr>
            </a:pPr>
            <a:r>
              <a:rPr sz="1800" b="1">
                <a:solidFill>
                  <a:srgbClr val="0A6B49"/>
                </a:solidFill>
              </a:rPr>
              <a:t>Badulla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3AF41-7CB7-444C-8D8A-43C2ABB08DCC}"/>
              </a:ext>
            </a:extLst>
          </p:cNvPr>
          <p:cNvSpPr>
            <a:spLocks noGrp="1"/>
          </p:cNvSpPr>
          <p:nvPr/>
        </p:nvSpPr>
        <p:spPr>
          <a:xfrm>
            <a:off x="3143250" y="334327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2352A"/>
                </a:solidFill>
              </a:defRPr>
            </a:pPr>
            <a:r>
              <a:rPr sz="1650" b="0">
                <a:solidFill>
                  <a:srgbClr val="12352A"/>
                </a:solidFill>
              </a:rPr>
              <a:t>Landslide and mountain road warnings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11AAA7-E2C6-4175-AC0B-28BF3CC68C83}"/>
              </a:ext>
            </a:extLst>
          </p:cNvPr>
          <p:cNvSpPr>
            <a:spLocks noGrp="1"/>
          </p:cNvSpPr>
          <p:nvPr/>
        </p:nvSpPr>
        <p:spPr>
          <a:xfrm>
            <a:off x="904875" y="3743325"/>
            <a:ext cx="9620250" cy="9525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C9AC17-471C-4680-8853-E7456D44C107}"/>
              </a:ext>
            </a:extLst>
          </p:cNvPr>
          <p:cNvSpPr>
            <a:spLocks noGrp="1"/>
          </p:cNvSpPr>
          <p:nvPr/>
        </p:nvSpPr>
        <p:spPr>
          <a:xfrm>
            <a:off x="1000125" y="38957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A6B49"/>
                </a:solidFill>
              </a:defRPr>
            </a:pPr>
            <a:r>
              <a:rPr sz="1800" b="1">
                <a:solidFill>
                  <a:srgbClr val="0A6B49"/>
                </a:solidFill>
              </a:rPr>
              <a:t>Nuwara Eliya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DDC3B-0CD1-4D99-A1C5-22B7CCA2DA09}"/>
              </a:ext>
            </a:extLst>
          </p:cNvPr>
          <p:cNvSpPr>
            <a:spLocks noGrp="1"/>
          </p:cNvSpPr>
          <p:nvPr/>
        </p:nvSpPr>
        <p:spPr>
          <a:xfrm>
            <a:off x="3143250" y="389572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2352A"/>
                </a:solidFill>
              </a:defRPr>
            </a:pPr>
            <a:r>
              <a:rPr sz="1650" b="0">
                <a:solidFill>
                  <a:srgbClr val="12352A"/>
                </a:solidFill>
              </a:rPr>
              <a:t>Landslide and mountain road warnings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0A2263F-AD28-4690-B516-F226AD7BB509}"/>
              </a:ext>
            </a:extLst>
          </p:cNvPr>
          <p:cNvSpPr>
            <a:spLocks noGrp="1"/>
          </p:cNvSpPr>
          <p:nvPr/>
        </p:nvSpPr>
        <p:spPr>
          <a:xfrm>
            <a:off x="904875" y="4295775"/>
            <a:ext cx="9620250" cy="9525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2A9D79-DE5C-47DA-976B-5D8D48177FB7}"/>
              </a:ext>
            </a:extLst>
          </p:cNvPr>
          <p:cNvSpPr>
            <a:spLocks noGrp="1"/>
          </p:cNvSpPr>
          <p:nvPr/>
        </p:nvSpPr>
        <p:spPr>
          <a:xfrm>
            <a:off x="1000125" y="44481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A6B49"/>
                </a:solidFill>
              </a:defRPr>
            </a:pPr>
            <a:r>
              <a:rPr sz="1800" b="1">
                <a:solidFill>
                  <a:srgbClr val="0A6B49"/>
                </a:solidFill>
              </a:rPr>
              <a:t>Rathnapura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2CCDDC-A60A-4891-824F-9175E2D73529}"/>
              </a:ext>
            </a:extLst>
          </p:cNvPr>
          <p:cNvSpPr>
            <a:spLocks noGrp="1"/>
          </p:cNvSpPr>
          <p:nvPr/>
        </p:nvSpPr>
        <p:spPr>
          <a:xfrm>
            <a:off x="3143250" y="444817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2352A"/>
                </a:solidFill>
              </a:defRPr>
            </a:pPr>
            <a:r>
              <a:rPr sz="1650" b="0">
                <a:solidFill>
                  <a:srgbClr val="12352A"/>
                </a:solidFill>
              </a:rPr>
              <a:t>Flood and river overflow alerts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B0F1D6-F01D-457F-A05A-BF6E287D147A}"/>
              </a:ext>
            </a:extLst>
          </p:cNvPr>
          <p:cNvSpPr>
            <a:spLocks noGrp="1"/>
          </p:cNvSpPr>
          <p:nvPr/>
        </p:nvSpPr>
        <p:spPr>
          <a:xfrm>
            <a:off x="904875" y="4848225"/>
            <a:ext cx="9620250" cy="9525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222EE1-51A5-43B0-9EB7-75F256BC8F31}"/>
              </a:ext>
            </a:extLst>
          </p:cNvPr>
          <p:cNvSpPr>
            <a:spLocks noGrp="1"/>
          </p:cNvSpPr>
          <p:nvPr/>
        </p:nvSpPr>
        <p:spPr>
          <a:xfrm>
            <a:off x="1000125" y="50006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A6B49"/>
                </a:solidFill>
              </a:defRPr>
            </a:pPr>
            <a:r>
              <a:rPr sz="1800" b="1">
                <a:solidFill>
                  <a:srgbClr val="0A6B49"/>
                </a:solidFill>
              </a:rPr>
              <a:t>Colombo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C4A6E7-9311-4B77-A865-4F8BC31CA037}"/>
              </a:ext>
            </a:extLst>
          </p:cNvPr>
          <p:cNvSpPr>
            <a:spLocks noGrp="1"/>
          </p:cNvSpPr>
          <p:nvPr/>
        </p:nvSpPr>
        <p:spPr>
          <a:xfrm>
            <a:off x="3143250" y="5000625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2352A"/>
                </a:solidFill>
              </a:defRPr>
            </a:pPr>
            <a:r>
              <a:rPr sz="1650" b="0">
                <a:solidFill>
                  <a:srgbClr val="12352A"/>
                </a:solidFill>
              </a:rPr>
              <a:t>Garbage overflow, urban flooding, traffic, safety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50643BA-5B33-45D9-A226-BA3872807DF9}"/>
              </a:ext>
            </a:extLst>
          </p:cNvPr>
          <p:cNvSpPr>
            <a:spLocks noGrp="1"/>
          </p:cNvSpPr>
          <p:nvPr/>
        </p:nvSpPr>
        <p:spPr>
          <a:xfrm>
            <a:off x="904875" y="5400675"/>
            <a:ext cx="9620250" cy="9525"/>
          </a:xfrm>
          <a:prstGeom prst="roundRect">
            <a:avLst>
              <a:gd name="adj" fmla="val 50000"/>
            </a:avLst>
          </a:prstGeom>
          <a:solidFill>
            <a:srgbClr val="D9E5DD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7684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A209FB6F-DD7B-4592-9836-905A005C6F9A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E804D7-8D8D-42C4-BB21-C0C1BE068648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C2CAE3-02F4-4438-8F4A-1CF0A8E1C7B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C8D5A-A35D-40C8-A084-7F318798144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2A635-9DE0-4962-84D3-5F83F599F49D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Roles separate public use from authority control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3BA2A4-F067-4405-B306-3B32AB3F066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login model protects admin/officer functions while keeping citizen reporting simple.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C6E3B6-1C3C-4D4D-B98E-C5FB9D5408AC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31432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91244F-F0E0-4802-AB3D-92E6BC812503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76200" cy="20955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5A2450-6790-41D0-88DF-461738B0974C}"/>
              </a:ext>
            </a:extLst>
          </p:cNvPr>
          <p:cNvSpPr>
            <a:spLocks noGrp="1"/>
          </p:cNvSpPr>
          <p:nvPr/>
        </p:nvSpPr>
        <p:spPr>
          <a:xfrm>
            <a:off x="1133475" y="2667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Citizen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DE6A24-4B75-4F5D-81C4-66ED64135E0F}"/>
              </a:ext>
            </a:extLst>
          </p:cNvPr>
          <p:cNvSpPr>
            <a:spLocks noGrp="1"/>
          </p:cNvSpPr>
          <p:nvPr/>
        </p:nvSpPr>
        <p:spPr>
          <a:xfrm>
            <a:off x="1133475" y="306705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Registers and logs in by NIC. Reports issues, checks modules, uses assistant, and sees location-relevant cards.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A31C66-684F-4F13-B6AB-4D6D878820D3}"/>
              </a:ext>
            </a:extLst>
          </p:cNvPr>
          <p:cNvSpPr>
            <a:spLocks noGrp="1"/>
          </p:cNvSpPr>
          <p:nvPr/>
        </p:nvSpPr>
        <p:spPr>
          <a:xfrm>
            <a:off x="4524375" y="2476500"/>
            <a:ext cx="31432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D2D6526-8D1E-4F4E-973E-86002DAB76B3}"/>
              </a:ext>
            </a:extLst>
          </p:cNvPr>
          <p:cNvSpPr>
            <a:spLocks noGrp="1"/>
          </p:cNvSpPr>
          <p:nvPr/>
        </p:nvSpPr>
        <p:spPr>
          <a:xfrm>
            <a:off x="4524375" y="2476500"/>
            <a:ext cx="76200" cy="209550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E967C6-53C9-4744-BFD3-32DF4108D9DE}"/>
              </a:ext>
            </a:extLst>
          </p:cNvPr>
          <p:cNvSpPr>
            <a:spLocks noGrp="1"/>
          </p:cNvSpPr>
          <p:nvPr/>
        </p:nvSpPr>
        <p:spPr>
          <a:xfrm>
            <a:off x="4752975" y="2667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Officer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C74E4-B5C7-493D-BCE5-D1904CCACF5B}"/>
              </a:ext>
            </a:extLst>
          </p:cNvPr>
          <p:cNvSpPr>
            <a:spLocks noGrp="1"/>
          </p:cNvSpPr>
          <p:nvPr/>
        </p:nvSpPr>
        <p:spPr>
          <a:xfrm>
            <a:off x="4752975" y="306705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Logs in by employee ID. Reviews citizen reports, updates status, and handles assigned work.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8F87371-47CB-40AA-9C61-C19414EB930D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1432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059295B-F349-4E06-AE92-DE07F3FDDBB2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76200" cy="2095500"/>
          </a:xfrm>
          <a:prstGeom prst="roundRect">
            <a:avLst>
              <a:gd name="adj" fmla="val 50000"/>
            </a:avLst>
          </a:prstGeom>
          <a:solidFill>
            <a:srgbClr val="C84630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41565C-BFC9-482D-860D-D2AAA0596554}"/>
              </a:ext>
            </a:extLst>
          </p:cNvPr>
          <p:cNvSpPr>
            <a:spLocks noGrp="1"/>
          </p:cNvSpPr>
          <p:nvPr/>
        </p:nvSpPr>
        <p:spPr>
          <a:xfrm>
            <a:off x="8372475" y="26670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Admin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552CCF-D194-42CF-806B-EDB299B51639}"/>
              </a:ext>
            </a:extLst>
          </p:cNvPr>
          <p:cNvSpPr>
            <a:spLocks noGrp="1"/>
          </p:cNvSpPr>
          <p:nvPr/>
        </p:nvSpPr>
        <p:spPr>
          <a:xfrm>
            <a:off x="8372475" y="3067050"/>
            <a:ext cx="26860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Default admin can see all cards, create officers, and monitor the system.</a:t>
            </a:r>
          </a:p>
        </p:txBody>
      </p:sp>
    </p:spTree>
    <p:extLst>
      <p:ext uri="{BB962C8B-B14F-4D97-AF65-F5344CB8AC3E}">
        <p14:creationId xmlns:p14="http://schemas.microsoft.com/office/powerpoint/2010/main" val="331585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1B179E39-0A78-460C-8BCE-2E2AE1C153AA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B86D6D1-7F48-418A-A6A3-10B2BB3FC090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2D62C-9BFF-4BE6-97C6-90559750F6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49B302-48D0-4FB3-9EF3-592B5B96DFC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9D8E83-A041-4509-9D4E-08A7BE5D0E4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Citizen reports become officer work items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E4D345-4D1C-452F-87B0-7601294AA13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A structured report gives officers the minimum evidence needed for action.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9572F8-84A0-49EA-A904-EF84E6AABC47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590550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Citizen selects report type: flood, landslide, elephant movement, garbage overflow, road damage, water issue, or other.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Report captures description, photo, GPS location, date/time, and contact number.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Report is saved locally and synced online when possible.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Officer reviews, assigns, resolves, or marks garbage bin as free.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Admin can monitor the whole workflow.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821F16-3DFF-4524-AFD5-05701F39F456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3143250" cy="1762125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78BEE7-8DDC-481C-8B73-3396F3037122}"/>
              </a:ext>
            </a:extLst>
          </p:cNvPr>
          <p:cNvSpPr>
            <a:spLocks noGrp="1"/>
          </p:cNvSpPr>
          <p:nvPr/>
        </p:nvSpPr>
        <p:spPr>
          <a:xfrm>
            <a:off x="7524750" y="2667000"/>
            <a:ext cx="76200" cy="1762125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E31864-AC44-436B-BB18-106C81AF6A29}"/>
              </a:ext>
            </a:extLst>
          </p:cNvPr>
          <p:cNvSpPr>
            <a:spLocks noGrp="1"/>
          </p:cNvSpPr>
          <p:nvPr/>
        </p:nvSpPr>
        <p:spPr>
          <a:xfrm>
            <a:off x="7753350" y="285750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Officer requirement match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3862DD-8784-420E-86BF-26F4F318EFAF}"/>
              </a:ext>
            </a:extLst>
          </p:cNvPr>
          <p:cNvSpPr>
            <a:spLocks noGrp="1"/>
          </p:cNvSpPr>
          <p:nvPr/>
        </p:nvSpPr>
        <p:spPr>
          <a:xfrm>
            <a:off x="7753350" y="3257550"/>
            <a:ext cx="268605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The survey showed every officer required contact number, date/time, description, GPS location, and photo.</a:t>
            </a:r>
          </a:p>
        </p:txBody>
      </p:sp>
    </p:spTree>
    <p:extLst>
      <p:ext uri="{BB962C8B-B14F-4D97-AF65-F5344CB8AC3E}">
        <p14:creationId xmlns:p14="http://schemas.microsoft.com/office/powerpoint/2010/main" val="776042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5CACA88-65A9-4A85-8EF2-8DCBBC644B3F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DCC63A4-F761-4F2D-85C1-F8477CCD433E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4B0B8F0-958F-485A-ACA6-D5F0221B1D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12352A"/>
          </a:solidFill>
          <a:ln w="0">
            <a:noFill/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B43612-349D-4ECB-ACCE-A8E007070170}"/>
              </a:ext>
            </a:extLst>
          </p:cNvPr>
          <p:cNvSpPr>
            <a:spLocks noGrp="1"/>
          </p:cNvSpPr>
          <p:nvPr/>
        </p:nvSpPr>
        <p:spPr>
          <a:xfrm>
            <a:off x="8572500" y="857250"/>
            <a:ext cx="2381250" cy="2381250"/>
          </a:xfrm>
          <a:prstGeom prst="ellipse">
            <a:avLst/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AA9FD3-E36E-4CF0-85D1-9275EAB5346D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1524000" cy="1524000"/>
          </a:xfrm>
          <a:prstGeom prst="ellipse">
            <a:avLst/>
          </a:prstGeom>
          <a:solidFill>
            <a:srgbClr val="FFFFFF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ED5A0-C90B-4577-A037-18DDC814FB18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9DD8BD"/>
                </a:solidFill>
              </a:defRPr>
            </a:pPr>
            <a:r>
              <a:rPr sz="1200" b="1">
                <a:solidFill>
                  <a:srgbClr val="9DD8BD"/>
                </a:solidFill>
              </a:rPr>
              <a:t>DATA AND DATABASE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BE9A64-567E-4DEF-8C7B-04D334419F33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Cloud sync and offline storage make the app field-ready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808A8-2F3A-49BB-8EFB-1DADCFC72BAD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Firebase stores shared online data.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Local storage keeps the app useful during weak internet.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The sync design supports citizens, officers, admin, IoT, and alerts.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FE9F12-B873-48F7-A872-1A96913C0694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DD8BD"/>
                </a:solidFill>
              </a:defRPr>
            </a:pPr>
            <a:r>
              <a:rPr sz="1050" b="0">
                <a:solidFill>
                  <a:srgbClr val="9DD8BD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64813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97169CDF-BDCE-4B39-B8A9-33CC160A618E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1BBFCC4-8D8D-4BE4-A403-A5A395E631BE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7C0F1D-8291-49C1-9D09-70FD935F946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F396DC-BDD0-4C7D-8518-45BE37DB14CD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C2DA8B-D9B4-458C-AF1C-A938BCBE00C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Firebase is the shared online database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0FCD8-8414-4313-95C1-A2CB467465C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Firestore connects users, reports, alerts, and IoT readings across devices.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E097FB8-2FB6-4B7C-8AA7-E5B54B6E2014}"/>
              </a:ext>
            </a:extLst>
          </p:cNvPr>
          <p:cNvSpPr>
            <a:spLocks noGrp="1"/>
          </p:cNvSpPr>
          <p:nvPr/>
        </p:nvSpPr>
        <p:spPr>
          <a:xfrm>
            <a:off x="1000125" y="2238375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6CEE20-A33C-439F-83D7-0D35F0BAB2BE}"/>
              </a:ext>
            </a:extLst>
          </p:cNvPr>
          <p:cNvSpPr>
            <a:spLocks noGrp="1"/>
          </p:cNvSpPr>
          <p:nvPr/>
        </p:nvSpPr>
        <p:spPr>
          <a:xfrm>
            <a:off x="1000125" y="2238375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1C4FA-CE49-4C40-ACB2-300C34D28B30}"/>
              </a:ext>
            </a:extLst>
          </p:cNvPr>
          <p:cNvSpPr>
            <a:spLocks noGrp="1"/>
          </p:cNvSpPr>
          <p:nvPr/>
        </p:nvSpPr>
        <p:spPr>
          <a:xfrm>
            <a:off x="1228725" y="242887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users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840F3C-C5B2-4519-A62B-227FDBF948C6}"/>
              </a:ext>
            </a:extLst>
          </p:cNvPr>
          <p:cNvSpPr>
            <a:spLocks noGrp="1"/>
          </p:cNvSpPr>
          <p:nvPr/>
        </p:nvSpPr>
        <p:spPr>
          <a:xfrm>
            <a:off x="1228725" y="2828925"/>
            <a:ext cx="40195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Citizen and officer accounts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0155DC-ED70-4A7D-A1E1-5B21BABD4A58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D187988-012F-45C7-BFEB-B936CA331432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454543-E664-4BD8-97EA-0D91079528E7}"/>
              </a:ext>
            </a:extLst>
          </p:cNvPr>
          <p:cNvSpPr>
            <a:spLocks noGrp="1"/>
          </p:cNvSpPr>
          <p:nvPr/>
        </p:nvSpPr>
        <p:spPr>
          <a:xfrm>
            <a:off x="6419850" y="242887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community_reports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E91F6-2189-4290-B5C0-FAAFED409766}"/>
              </a:ext>
            </a:extLst>
          </p:cNvPr>
          <p:cNvSpPr>
            <a:spLocks noGrp="1"/>
          </p:cNvSpPr>
          <p:nvPr/>
        </p:nvSpPr>
        <p:spPr>
          <a:xfrm>
            <a:off x="6419850" y="2828925"/>
            <a:ext cx="40195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Issue reports and workflow status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D7A73A-0C20-4803-BE11-8CBDF257D5F9}"/>
              </a:ext>
            </a:extLst>
          </p:cNvPr>
          <p:cNvSpPr>
            <a:spLocks noGrp="1"/>
          </p:cNvSpPr>
          <p:nvPr/>
        </p:nvSpPr>
        <p:spPr>
          <a:xfrm>
            <a:off x="1000125" y="3305175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AEE6892-3397-4F28-BE81-A541E669A474}"/>
              </a:ext>
            </a:extLst>
          </p:cNvPr>
          <p:cNvSpPr>
            <a:spLocks noGrp="1"/>
          </p:cNvSpPr>
          <p:nvPr/>
        </p:nvSpPr>
        <p:spPr>
          <a:xfrm>
            <a:off x="1000125" y="3305175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D4B40C-509D-497B-8493-F619D1C5879F}"/>
              </a:ext>
            </a:extLst>
          </p:cNvPr>
          <p:cNvSpPr>
            <a:spLocks noGrp="1"/>
          </p:cNvSpPr>
          <p:nvPr/>
        </p:nvSpPr>
        <p:spPr>
          <a:xfrm>
            <a:off x="1228725" y="349567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alpha_iot_elephant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35E71E-80CA-4D6B-BBA3-EFA2DAAEABDC}"/>
              </a:ext>
            </a:extLst>
          </p:cNvPr>
          <p:cNvSpPr>
            <a:spLocks noGrp="1"/>
          </p:cNvSpPr>
          <p:nvPr/>
        </p:nvSpPr>
        <p:spPr>
          <a:xfrm>
            <a:off x="1228725" y="3895725"/>
            <a:ext cx="40195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Perimeter beam readings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C5FC84-D1E2-413D-85F5-98D0D28CB9C5}"/>
              </a:ext>
            </a:extLst>
          </p:cNvPr>
          <p:cNvSpPr>
            <a:spLocks noGrp="1"/>
          </p:cNvSpPr>
          <p:nvPr/>
        </p:nvSpPr>
        <p:spPr>
          <a:xfrm>
            <a:off x="6191250" y="3305175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A91118-48F6-4D6F-9516-EF7126251AF5}"/>
              </a:ext>
            </a:extLst>
          </p:cNvPr>
          <p:cNvSpPr>
            <a:spLocks noGrp="1"/>
          </p:cNvSpPr>
          <p:nvPr/>
        </p:nvSpPr>
        <p:spPr>
          <a:xfrm>
            <a:off x="6191250" y="3305175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B9EBFE-9961-4591-BBE6-C2B7B22C32F9}"/>
              </a:ext>
            </a:extLst>
          </p:cNvPr>
          <p:cNvSpPr>
            <a:spLocks noGrp="1"/>
          </p:cNvSpPr>
          <p:nvPr/>
        </p:nvSpPr>
        <p:spPr>
          <a:xfrm>
            <a:off x="6419850" y="349567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alpha_iot_environment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C021C8-EBD5-44EA-A6CE-CE7A6C24349E}"/>
              </a:ext>
            </a:extLst>
          </p:cNvPr>
          <p:cNvSpPr>
            <a:spLocks noGrp="1"/>
          </p:cNvSpPr>
          <p:nvPr/>
        </p:nvSpPr>
        <p:spPr>
          <a:xfrm>
            <a:off x="6419850" y="3895725"/>
            <a:ext cx="40195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Flood and landslide readings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742CE92-D9FB-4834-962D-AE3C2B4C9978}"/>
              </a:ext>
            </a:extLst>
          </p:cNvPr>
          <p:cNvSpPr>
            <a:spLocks noGrp="1"/>
          </p:cNvSpPr>
          <p:nvPr/>
        </p:nvSpPr>
        <p:spPr>
          <a:xfrm>
            <a:off x="1000125" y="4371975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BE55573-F8E0-48FA-91DF-95CA86A260FB}"/>
              </a:ext>
            </a:extLst>
          </p:cNvPr>
          <p:cNvSpPr>
            <a:spLocks noGrp="1"/>
          </p:cNvSpPr>
          <p:nvPr/>
        </p:nvSpPr>
        <p:spPr>
          <a:xfrm>
            <a:off x="1000125" y="4371975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1C965FE-0B8C-4140-A565-0F3BDBB02B6A}"/>
              </a:ext>
            </a:extLst>
          </p:cNvPr>
          <p:cNvSpPr>
            <a:spLocks noGrp="1"/>
          </p:cNvSpPr>
          <p:nvPr/>
        </p:nvSpPr>
        <p:spPr>
          <a:xfrm>
            <a:off x="1228725" y="456247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garbage_bins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036DC1-B3C1-48AE-8FA9-0399F4D90BB1}"/>
              </a:ext>
            </a:extLst>
          </p:cNvPr>
          <p:cNvSpPr>
            <a:spLocks noGrp="1"/>
          </p:cNvSpPr>
          <p:nvPr/>
        </p:nvSpPr>
        <p:spPr>
          <a:xfrm>
            <a:off x="1228725" y="4962525"/>
            <a:ext cx="40195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Bin fill, weight, and capacity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5F30A6D-F4D9-4114-BA75-75F428FBE3B6}"/>
              </a:ext>
            </a:extLst>
          </p:cNvPr>
          <p:cNvSpPr>
            <a:spLocks noGrp="1"/>
          </p:cNvSpPr>
          <p:nvPr/>
        </p:nvSpPr>
        <p:spPr>
          <a:xfrm>
            <a:off x="6191250" y="4371975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C41D88B-9FCE-41F4-B72D-11BF1ABED53A}"/>
              </a:ext>
            </a:extLst>
          </p:cNvPr>
          <p:cNvSpPr>
            <a:spLocks noGrp="1"/>
          </p:cNvSpPr>
          <p:nvPr/>
        </p:nvSpPr>
        <p:spPr>
          <a:xfrm>
            <a:off x="6191250" y="4371975"/>
            <a:ext cx="76200" cy="81915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D07C82-6F29-4B59-AE66-B3AF073C3E2A}"/>
              </a:ext>
            </a:extLst>
          </p:cNvPr>
          <p:cNvSpPr>
            <a:spLocks noGrp="1"/>
          </p:cNvSpPr>
          <p:nvPr/>
        </p:nvSpPr>
        <p:spPr>
          <a:xfrm>
            <a:off x="6419850" y="456247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alerts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25A67B-599A-449D-A19D-04DC7A308FA1}"/>
              </a:ext>
            </a:extLst>
          </p:cNvPr>
          <p:cNvSpPr>
            <a:spLocks noGrp="1"/>
          </p:cNvSpPr>
          <p:nvPr/>
        </p:nvSpPr>
        <p:spPr>
          <a:xfrm>
            <a:off x="6419850" y="4962525"/>
            <a:ext cx="40195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Safety alert history</a:t>
            </a:r>
          </a:p>
        </p:txBody>
      </p:sp>
    </p:spTree>
    <p:extLst>
      <p:ext uri="{BB962C8B-B14F-4D97-AF65-F5344CB8AC3E}">
        <p14:creationId xmlns:p14="http://schemas.microsoft.com/office/powerpoint/2010/main" val="91116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35A1AFEB-5825-49E4-AE6F-8986ED865986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A8C0D14-E183-47E4-A452-6542E4CD89F7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F38732-F275-4C01-924D-5EA8256EA7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2C3C8-96B4-468C-8E79-A927A8373E65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05149-0696-4C8A-A3CE-D0CFF0019DE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Offline support protects rural usability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473D7-84DF-43FF-B953-B8A5F1127537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is designed to continue useful work when internet is weak.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E4B52F-0FD8-40B9-AC57-84032AEF65C2}"/>
              </a:ext>
            </a:extLst>
          </p:cNvPr>
          <p:cNvSpPr>
            <a:spLocks noGrp="1"/>
          </p:cNvSpPr>
          <p:nvPr/>
        </p:nvSpPr>
        <p:spPr>
          <a:xfrm>
            <a:off x="904875" y="2428875"/>
            <a:ext cx="6858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Local database stores user records and offline-friendly app data.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Prediction history remains on device for comparison.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Reports can be cached locally and synced when online.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Assistant has offline safety answers for flood, landslide, elephant, and garbage.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This matches the survey finding that smartphone and network access are mixed.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C863787-710C-4725-B711-6342D944BE56}"/>
              </a:ext>
            </a:extLst>
          </p:cNvPr>
          <p:cNvSpPr>
            <a:spLocks noGrp="1"/>
          </p:cNvSpPr>
          <p:nvPr/>
        </p:nvSpPr>
        <p:spPr>
          <a:xfrm>
            <a:off x="8572500" y="2524125"/>
            <a:ext cx="1714500" cy="1714500"/>
          </a:xfrm>
          <a:prstGeom prst="ellipse">
            <a:avLst/>
          </a:prstGeom>
          <a:solidFill>
            <a:srgbClr val="E8F6ED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B5041-238D-4F26-B5FD-AC10E479DD74}"/>
              </a:ext>
            </a:extLst>
          </p:cNvPr>
          <p:cNvSpPr>
            <a:spLocks noGrp="1"/>
          </p:cNvSpPr>
          <p:nvPr/>
        </p:nvSpPr>
        <p:spPr>
          <a:xfrm>
            <a:off x="8572500" y="3000375"/>
            <a:ext cx="171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A6B49"/>
                </a:solidFill>
              </a:defRPr>
            </a:pPr>
            <a:r>
              <a:rPr sz="2250" b="1">
                <a:solidFill>
                  <a:srgbClr val="0A6B49"/>
                </a:solidFill>
              </a:rPr>
              <a:t>OFFLINE</a:t>
            </a:r>
          </a:p>
          <a:p>
            <a:pPr algn="ctr">
              <a:defRPr sz="2250" b="1">
                <a:solidFill>
                  <a:srgbClr val="0A6B49"/>
                </a:solidFill>
              </a:defRPr>
            </a:pPr>
            <a:r>
              <a:rPr sz="2250" b="1">
                <a:solidFill>
                  <a:srgbClr val="0A6B49"/>
                </a:solidFill>
              </a:rPr>
              <a:t>FIRST</a:t>
            </a:r>
          </a:p>
        </p:txBody>
      </p:sp>
    </p:spTree>
    <p:extLst>
      <p:ext uri="{BB962C8B-B14F-4D97-AF65-F5344CB8AC3E}">
        <p14:creationId xmlns:p14="http://schemas.microsoft.com/office/powerpoint/2010/main" val="420763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CE738DF-DB33-4C9B-8DEF-2DB7874A7C0B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6237A92-215F-45C0-BF47-FF7DB62F805E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41C94D-1B66-44B6-83D1-EFB5B18CD1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12352A"/>
          </a:solidFill>
          <a:ln w="0">
            <a:noFill/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9008F56-166F-4BC7-9794-7E12176FD2AE}"/>
              </a:ext>
            </a:extLst>
          </p:cNvPr>
          <p:cNvSpPr>
            <a:spLocks noGrp="1"/>
          </p:cNvSpPr>
          <p:nvPr/>
        </p:nvSpPr>
        <p:spPr>
          <a:xfrm>
            <a:off x="8572500" y="857250"/>
            <a:ext cx="2381250" cy="2381250"/>
          </a:xfrm>
          <a:prstGeom prst="ellipse">
            <a:avLst/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9A937D3-5558-4C50-9F14-252A2C4DCEF1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1524000" cy="1524000"/>
          </a:xfrm>
          <a:prstGeom prst="ellipse">
            <a:avLst/>
          </a:prstGeom>
          <a:solidFill>
            <a:srgbClr val="FFFFFF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4F9D2-6CE1-410F-B882-D82BC290A95B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9DD8BD"/>
                </a:solidFill>
              </a:defRPr>
            </a:pPr>
            <a:r>
              <a:rPr sz="1200" b="1">
                <a:solidFill>
                  <a:srgbClr val="9DD8BD"/>
                </a:solidFill>
              </a:rPr>
              <a:t>IOT AND FIELD INTELLIGENCE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CD1097-EFBF-4FBB-9050-047572CD25A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Sensors turn real-world conditions into simple decisions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86C9AE-52CE-4970-94DF-572173B38DE9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The app hides raw engineering details from citizens.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It shows meaningful status, levels, and guidance instead.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Field readings support faster alerts and officer response.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55DAF6-3F60-4BAB-AD7A-E40F295D29C2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DD8BD"/>
                </a:solidFill>
              </a:defRPr>
            </a:pPr>
            <a:r>
              <a:rPr sz="1050" b="0">
                <a:solidFill>
                  <a:srgbClr val="9DD8BD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719205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>
            <a:extLst>
              <a:ext uri="{FF2B5EF4-FFF2-40B4-BE49-F238E27FC236}">
                <a16:creationId xmlns:a16="http://schemas.microsoft.com/office/drawing/2014/main" id="{168FD4DC-1A88-4EE2-BBA2-2062E905883B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72137B3-02E5-456D-95D2-2CE388A6E730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6CF48A-CFD5-40DA-8AB9-E4C73B4F7B1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A43E65-AE80-4F6E-941E-E65B66C5F08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C1AED4-D45F-410C-A167-17650F49B4D5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IoT data is separated by safety domain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166E54-D85F-4263-A502-E9C7BD7B560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Each physical signal is mapped to the app module that can use it.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07FBD8-6A3E-4AC8-82CB-713F4C0228ED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31432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3DC176-0A7C-4C89-9005-5E1DABBC36B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F1FEA-2BEF-4D02-9A7D-273664002676}"/>
              </a:ext>
            </a:extLst>
          </p:cNvPr>
          <p:cNvSpPr>
            <a:spLocks noGrp="1"/>
          </p:cNvSpPr>
          <p:nvPr/>
        </p:nvSpPr>
        <p:spPr>
          <a:xfrm>
            <a:off x="990600" y="252412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Elephant safety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6BFC9-12D6-4824-8867-FCA5D1601216}"/>
              </a:ext>
            </a:extLst>
          </p:cNvPr>
          <p:cNvSpPr>
            <a:spLocks noGrp="1"/>
          </p:cNvSpPr>
          <p:nvPr/>
        </p:nvSpPr>
        <p:spPr>
          <a:xfrm>
            <a:off x="990600" y="2924175"/>
            <a:ext cx="268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Live camera frame analysis plus perimeter crossing signal for early warning.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4CC57F-598A-44E6-87EA-A287423A3CE7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F92290-FD30-4E21-8193-6CC97191A34F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F6701A-C76E-44B5-B859-7BF4CF034A7E}"/>
              </a:ext>
            </a:extLst>
          </p:cNvPr>
          <p:cNvSpPr>
            <a:spLocks noGrp="1"/>
          </p:cNvSpPr>
          <p:nvPr/>
        </p:nvSpPr>
        <p:spPr>
          <a:xfrm>
            <a:off x="4752975" y="252412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Flood risk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471297-F0F2-415E-841C-F58A4DE950D2}"/>
              </a:ext>
            </a:extLst>
          </p:cNvPr>
          <p:cNvSpPr>
            <a:spLocks noGrp="1"/>
          </p:cNvSpPr>
          <p:nvPr/>
        </p:nvSpPr>
        <p:spPr>
          <a:xfrm>
            <a:off x="4752975" y="2924175"/>
            <a:ext cx="268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Rainfall, water level, and drainage values produce a flood risk score.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450C6B-10D7-410B-BD7E-E98784E2DA80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31432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2B705F6-A2B7-4F3E-8C04-06E82446F2BB}"/>
              </a:ext>
            </a:extLst>
          </p:cNvPr>
          <p:cNvSpPr>
            <a:spLocks noGrp="1"/>
          </p:cNvSpPr>
          <p:nvPr/>
        </p:nvSpPr>
        <p:spPr>
          <a:xfrm>
            <a:off x="8286750" y="2333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44976EE-CBF0-44D7-8AC0-7EAD8CB1B44D}"/>
              </a:ext>
            </a:extLst>
          </p:cNvPr>
          <p:cNvSpPr>
            <a:spLocks noGrp="1"/>
          </p:cNvSpPr>
          <p:nvPr/>
        </p:nvSpPr>
        <p:spPr>
          <a:xfrm>
            <a:off x="8515350" y="252412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Landslide risk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D99EDD-3348-4534-8FAE-B562D7A37635}"/>
              </a:ext>
            </a:extLst>
          </p:cNvPr>
          <p:cNvSpPr>
            <a:spLocks noGrp="1"/>
          </p:cNvSpPr>
          <p:nvPr/>
        </p:nvSpPr>
        <p:spPr>
          <a:xfrm>
            <a:off x="8515350" y="2924175"/>
            <a:ext cx="268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Rainfall, slope, soil moisture, vibration, and tilt support hillside stability assessment.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9BF3ED-3BA1-4134-9C0C-54DA870D14BA}"/>
              </a:ext>
            </a:extLst>
          </p:cNvPr>
          <p:cNvSpPr>
            <a:spLocks noGrp="1"/>
          </p:cNvSpPr>
          <p:nvPr/>
        </p:nvSpPr>
        <p:spPr>
          <a:xfrm>
            <a:off x="2619375" y="4238625"/>
            <a:ext cx="31432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CA3E72C-68A1-42D3-8257-A26D1CCE76C3}"/>
              </a:ext>
            </a:extLst>
          </p:cNvPr>
          <p:cNvSpPr>
            <a:spLocks noGrp="1"/>
          </p:cNvSpPr>
          <p:nvPr/>
        </p:nvSpPr>
        <p:spPr>
          <a:xfrm>
            <a:off x="2619375" y="4238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6573F3B-A3BC-464D-A554-947F203ED75D}"/>
              </a:ext>
            </a:extLst>
          </p:cNvPr>
          <p:cNvSpPr>
            <a:spLocks noGrp="1"/>
          </p:cNvSpPr>
          <p:nvPr/>
        </p:nvSpPr>
        <p:spPr>
          <a:xfrm>
            <a:off x="2847975" y="442912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Garbage bin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3536F4-E977-475A-9282-E964738F7AED}"/>
              </a:ext>
            </a:extLst>
          </p:cNvPr>
          <p:cNvSpPr>
            <a:spLocks noGrp="1"/>
          </p:cNvSpPr>
          <p:nvPr/>
        </p:nvSpPr>
        <p:spPr>
          <a:xfrm>
            <a:off x="2847975" y="4829175"/>
            <a:ext cx="268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Fill percentage, weight, free capacity, and bin location guide citizens and officers.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F03823C-D0E6-46EF-B3FD-B3E7AA7C8E6A}"/>
              </a:ext>
            </a:extLst>
          </p:cNvPr>
          <p:cNvSpPr>
            <a:spLocks noGrp="1"/>
          </p:cNvSpPr>
          <p:nvPr/>
        </p:nvSpPr>
        <p:spPr>
          <a:xfrm>
            <a:off x="6429375" y="4238625"/>
            <a:ext cx="314325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A4AB3A-535E-431F-87C0-B56680D77426}"/>
              </a:ext>
            </a:extLst>
          </p:cNvPr>
          <p:cNvSpPr>
            <a:spLocks noGrp="1"/>
          </p:cNvSpPr>
          <p:nvPr/>
        </p:nvSpPr>
        <p:spPr>
          <a:xfrm>
            <a:off x="6429375" y="4238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1855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4033A-B5A4-4B5F-B46D-E2C3C9EBFACB}"/>
              </a:ext>
            </a:extLst>
          </p:cNvPr>
          <p:cNvSpPr>
            <a:spLocks noGrp="1"/>
          </p:cNvSpPr>
          <p:nvPr/>
        </p:nvSpPr>
        <p:spPr>
          <a:xfrm>
            <a:off x="6657975" y="4429125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Firebase sync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797C05A-5BC5-4996-BBDA-E9283FF35128}"/>
              </a:ext>
            </a:extLst>
          </p:cNvPr>
          <p:cNvSpPr>
            <a:spLocks noGrp="1"/>
          </p:cNvSpPr>
          <p:nvPr/>
        </p:nvSpPr>
        <p:spPr>
          <a:xfrm>
            <a:off x="6657975" y="4829175"/>
            <a:ext cx="268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Readings are uploaded online so the mobile app can display live dashboards.</a:t>
            </a:r>
          </a:p>
        </p:txBody>
      </p:sp>
    </p:spTree>
    <p:extLst>
      <p:ext uri="{BB962C8B-B14F-4D97-AF65-F5344CB8AC3E}">
        <p14:creationId xmlns:p14="http://schemas.microsoft.com/office/powerpoint/2010/main" val="597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EC04BFC7-F9E6-41C4-9837-F8FE8F5612F6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4A18D70-FC17-43B6-9CA7-EF8BCCD1C772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E12D2-2901-44D7-A46A-8F2F9ECF2F2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1EDEA6-4347-4218-9A4C-6FF1A6363C9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EA02C3-0D45-488A-A4CF-CCC7E5EFE2B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Elephant Safety combines camera AI and perimeter alerts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5000F8-67FC-46ED-9C16-6E9D059E15F3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module is designed for rural field monitoring and fast citizen warning.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t="3409" b="3409"/>
          <a:stretch>
            <a:fillRect/>
          </a:stretch>
        </p:blipFill>
        <p:spPr>
          <a:xfrm>
            <a:off x="762000" y="2180918"/>
            <a:ext cx="3143250" cy="3905250"/>
          </a:xfrm>
          <a:prstGeom prst="roundRect">
            <a:avLst>
              <a:gd name="adj" fmla="val 7273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7057FA-F531-4224-B34B-0EBC3877CEB0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59055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Live field camera connects to the app.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AI analyzes frames for elephant presence.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Perimeter beam reading adds a second risk signal.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Medium/high risk creates a safety alert.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Citizens receive simple guidance: keep distance and contact officers.</a:t>
            </a:r>
          </a:p>
        </p:txBody>
      </p:sp>
    </p:spTree>
    <p:extLst>
      <p:ext uri="{BB962C8B-B14F-4D97-AF65-F5344CB8AC3E}">
        <p14:creationId xmlns:p14="http://schemas.microsoft.com/office/powerpoint/2010/main" val="312602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l 27">
            <a:extLst>
              <a:ext uri="{FF2B5EF4-FFF2-40B4-BE49-F238E27FC236}">
                <a16:creationId xmlns:a16="http://schemas.microsoft.com/office/drawing/2014/main" id="{BDE6D092-EE32-4C49-9C54-650B00093B65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B0E853-B64C-44C4-B8BA-E53ACDBE0C61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2754B-96C3-41ED-8340-47F81ADE6B5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920E22-2AD2-47B2-98BF-ADBA1BB06CA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CE73D8-90A3-4AA4-AC6C-1DA9D48BAF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Flood Intelligence shows automatic water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88ECD-2A3E-4906-9D32-AA87FEECA310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Citizens see usable decisions instead of technical sensor controls.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16CED1-0E8B-4DE8-AA16-F7ECF3B4BAFB}"/>
              </a:ext>
            </a:extLst>
          </p:cNvPr>
          <p:cNvSpPr>
            <a:spLocks noGrp="1"/>
          </p:cNvSpPr>
          <p:nvPr/>
        </p:nvSpPr>
        <p:spPr>
          <a:xfrm>
            <a:off x="7810500" y="1428750"/>
            <a:ext cx="2857500" cy="4953000"/>
          </a:xfrm>
          <a:prstGeom prst="roundRect">
            <a:avLst>
              <a:gd name="adj" fmla="val 8000"/>
            </a:avLst>
          </a:prstGeom>
          <a:solidFill>
            <a:srgbClr val="10191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8BF56B-0BF9-4C4F-93DC-C46C97610632}"/>
              </a:ext>
            </a:extLst>
          </p:cNvPr>
          <p:cNvSpPr>
            <a:spLocks noGrp="1"/>
          </p:cNvSpPr>
          <p:nvPr/>
        </p:nvSpPr>
        <p:spPr>
          <a:xfrm>
            <a:off x="7981950" y="1638300"/>
            <a:ext cx="2514600" cy="4533900"/>
          </a:xfrm>
          <a:prstGeom prst="roundRect">
            <a:avLst>
              <a:gd name="adj" fmla="val 9091"/>
            </a:avLst>
          </a:prstGeom>
          <a:solidFill>
            <a:srgbClr val="F8FBF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EF62D1-730D-462D-9B5A-106F72CAF262}"/>
              </a:ext>
            </a:extLst>
          </p:cNvPr>
          <p:cNvSpPr>
            <a:spLocks noGrp="1"/>
          </p:cNvSpPr>
          <p:nvPr/>
        </p:nvSpPr>
        <p:spPr>
          <a:xfrm>
            <a:off x="8191500" y="19050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Flood Intelligence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BDD47E-4E09-4587-A01A-AD33B9745CC1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2057400" cy="1047750"/>
          </a:xfrm>
          <a:prstGeom prst="roundRect">
            <a:avLst>
              <a:gd name="adj" fmla="val 14545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201EA-D5DF-4D0D-8ED8-44937154F1BA}"/>
              </a:ext>
            </a:extLst>
          </p:cNvPr>
          <p:cNvSpPr>
            <a:spLocks noGrp="1"/>
          </p:cNvSpPr>
          <p:nvPr/>
        </p:nvSpPr>
        <p:spPr>
          <a:xfrm>
            <a:off x="8401050" y="26670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Automatic risk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157B37-7309-43C1-AC20-7526080F5C51}"/>
              </a:ext>
            </a:extLst>
          </p:cNvPr>
          <p:cNvSpPr>
            <a:spLocks noGrp="1"/>
          </p:cNvSpPr>
          <p:nvPr/>
        </p:nvSpPr>
        <p:spPr>
          <a:xfrm>
            <a:off x="8401050" y="2990850"/>
            <a:ext cx="1676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AF8F0"/>
                </a:solidFill>
              </a:defRPr>
            </a:pPr>
            <a:r>
              <a:rPr sz="1200" b="0">
                <a:solidFill>
                  <a:srgbClr val="EAF8F0"/>
                </a:solidFill>
              </a:rPr>
              <a:t>Live field intelligence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DA4F4A-10E8-47EB-8BDF-33E68EF41349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Rainfall 24h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31DF2E-52E4-4871-AC33-5AB79496A33B}"/>
              </a:ext>
            </a:extLst>
          </p:cNvPr>
          <p:cNvSpPr>
            <a:spLocks noGrp="1"/>
          </p:cNvSpPr>
          <p:nvPr/>
        </p:nvSpPr>
        <p:spPr>
          <a:xfrm>
            <a:off x="9372600" y="38290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80 mm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EC547B-0FE1-4143-8433-E2C7436B35CD}"/>
              </a:ext>
            </a:extLst>
          </p:cNvPr>
          <p:cNvSpPr>
            <a:spLocks noGrp="1"/>
          </p:cNvSpPr>
          <p:nvPr/>
        </p:nvSpPr>
        <p:spPr>
          <a:xfrm>
            <a:off x="8248650" y="4152900"/>
            <a:ext cx="198120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3112A6A-76B8-4718-93F2-6ACB6D6A5B89}"/>
              </a:ext>
            </a:extLst>
          </p:cNvPr>
          <p:cNvSpPr>
            <a:spLocks noGrp="1"/>
          </p:cNvSpPr>
          <p:nvPr/>
        </p:nvSpPr>
        <p:spPr>
          <a:xfrm>
            <a:off x="8248650" y="4152900"/>
            <a:ext cx="693420" cy="85725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32FCB-9FE9-4F25-9E7B-130D4B7208E5}"/>
              </a:ext>
            </a:extLst>
          </p:cNvPr>
          <p:cNvSpPr>
            <a:spLocks noGrp="1"/>
          </p:cNvSpPr>
          <p:nvPr/>
        </p:nvSpPr>
        <p:spPr>
          <a:xfrm>
            <a:off x="8248650" y="449580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Water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68F72-696A-4BF1-8391-5DB99E501DBF}"/>
              </a:ext>
            </a:extLst>
          </p:cNvPr>
          <p:cNvSpPr>
            <a:spLocks noGrp="1"/>
          </p:cNvSpPr>
          <p:nvPr/>
        </p:nvSpPr>
        <p:spPr>
          <a:xfrm>
            <a:off x="9372600" y="449580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1.5 m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893A61-569D-4A85-AB5E-99D8044F209A}"/>
              </a:ext>
            </a:extLst>
          </p:cNvPr>
          <p:cNvSpPr>
            <a:spLocks noGrp="1"/>
          </p:cNvSpPr>
          <p:nvPr/>
        </p:nvSpPr>
        <p:spPr>
          <a:xfrm>
            <a:off x="8248650" y="4819650"/>
            <a:ext cx="198120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8516BC-A886-4C14-9EFF-2C8891AAE9E3}"/>
              </a:ext>
            </a:extLst>
          </p:cNvPr>
          <p:cNvSpPr>
            <a:spLocks noGrp="1"/>
          </p:cNvSpPr>
          <p:nvPr/>
        </p:nvSpPr>
        <p:spPr>
          <a:xfrm>
            <a:off x="8248650" y="4819650"/>
            <a:ext cx="1010412" cy="85725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488982-B978-4E6E-AE28-7FE411061CD1}"/>
              </a:ext>
            </a:extLst>
          </p:cNvPr>
          <p:cNvSpPr>
            <a:spLocks noGrp="1"/>
          </p:cNvSpPr>
          <p:nvPr/>
        </p:nvSpPr>
        <p:spPr>
          <a:xfrm>
            <a:off x="8248650" y="5162550"/>
            <a:ext cx="1981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Drainage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059BBC-2818-4B86-8B18-E2F1B59C3B41}"/>
              </a:ext>
            </a:extLst>
          </p:cNvPr>
          <p:cNvSpPr>
            <a:spLocks noGrp="1"/>
          </p:cNvSpPr>
          <p:nvPr/>
        </p:nvSpPr>
        <p:spPr>
          <a:xfrm>
            <a:off x="9372600" y="51625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55%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F40FCA-1587-48F6-9A92-3B1D8AE99AF0}"/>
              </a:ext>
            </a:extLst>
          </p:cNvPr>
          <p:cNvSpPr>
            <a:spLocks noGrp="1"/>
          </p:cNvSpPr>
          <p:nvPr/>
        </p:nvSpPr>
        <p:spPr>
          <a:xfrm>
            <a:off x="8248650" y="5486400"/>
            <a:ext cx="198120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97509FD-A21C-4286-B57F-13D00831C881}"/>
              </a:ext>
            </a:extLst>
          </p:cNvPr>
          <p:cNvSpPr>
            <a:spLocks noGrp="1"/>
          </p:cNvSpPr>
          <p:nvPr/>
        </p:nvSpPr>
        <p:spPr>
          <a:xfrm>
            <a:off x="8248650" y="5486400"/>
            <a:ext cx="1327404" cy="85725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B854620-1355-4327-990D-42642A498158}"/>
              </a:ext>
            </a:extLst>
          </p:cNvPr>
          <p:cNvSpPr>
            <a:spLocks noGrp="1"/>
          </p:cNvSpPr>
          <p:nvPr/>
        </p:nvSpPr>
        <p:spPr>
          <a:xfrm>
            <a:off x="8286750" y="5391150"/>
            <a:ext cx="1905000" cy="419100"/>
          </a:xfrm>
          <a:prstGeom prst="roundRect">
            <a:avLst>
              <a:gd name="adj" fmla="val 36364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497A1F-29EB-4F5C-B77C-55A555FE1625}"/>
              </a:ext>
            </a:extLst>
          </p:cNvPr>
          <p:cNvSpPr>
            <a:spLocks noGrp="1"/>
          </p:cNvSpPr>
          <p:nvPr/>
        </p:nvSpPr>
        <p:spPr>
          <a:xfrm>
            <a:off x="8286750" y="550545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Refresh live assessment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E457E-D27B-4672-91F3-313904E50DB9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609600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Inputs: rainfall in 24 hours, river or drain water level, drainage capacity.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Output: low, medium, or high flood risk.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Dashboard displays live metrics with progress meters.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Refresh action saves assessment history.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Guidance helps citizens prepare or move away from danger.</a:t>
            </a:r>
          </a:p>
        </p:txBody>
      </p:sp>
    </p:spTree>
    <p:extLst>
      <p:ext uri="{BB962C8B-B14F-4D97-AF65-F5344CB8AC3E}">
        <p14:creationId xmlns:p14="http://schemas.microsoft.com/office/powerpoint/2010/main" val="5964951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F0C2E2E1-A412-4401-846F-646796BB0359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047E27-53EE-4A00-9D33-168AC4EF8DFB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856112-DA3E-44C1-B8EF-BB38168A3A5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485B6E-3FFB-4582-A3A0-EEB20403CFF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CDF707-4B3F-44E1-97AD-17FE002CF84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Landslide Intelligence reads terrain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F0B62A-86B2-40DC-B707-3AAC75A435F5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screen is built for hill-country monitoring and officer field decisions.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8DE8EC-FC36-4B48-B18B-6075CAC4F0B4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571750" cy="4000500"/>
          </a:xfrm>
          <a:prstGeom prst="roundRect">
            <a:avLst>
              <a:gd name="adj" fmla="val 8889"/>
            </a:avLst>
          </a:prstGeom>
          <a:solidFill>
            <a:srgbClr val="10191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AD9E834-FA66-41EF-BBF7-B7AEBB668E9E}"/>
              </a:ext>
            </a:extLst>
          </p:cNvPr>
          <p:cNvSpPr>
            <a:spLocks noGrp="1"/>
          </p:cNvSpPr>
          <p:nvPr/>
        </p:nvSpPr>
        <p:spPr>
          <a:xfrm>
            <a:off x="1028700" y="2447925"/>
            <a:ext cx="2228850" cy="3581400"/>
          </a:xfrm>
          <a:prstGeom prst="roundRect">
            <a:avLst>
              <a:gd name="adj" fmla="val 10256"/>
            </a:avLst>
          </a:prstGeom>
          <a:solidFill>
            <a:srgbClr val="F8FBF7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2A30B-41B6-4C2A-8B60-F2B3FDBF129F}"/>
              </a:ext>
            </a:extLst>
          </p:cNvPr>
          <p:cNvSpPr>
            <a:spLocks noGrp="1"/>
          </p:cNvSpPr>
          <p:nvPr/>
        </p:nvSpPr>
        <p:spPr>
          <a:xfrm>
            <a:off x="1238250" y="2714625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Landslide Intelligence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3EEDEAC-5B97-46F8-BB06-2EB66073C0AF}"/>
              </a:ext>
            </a:extLst>
          </p:cNvPr>
          <p:cNvSpPr>
            <a:spLocks noGrp="1"/>
          </p:cNvSpPr>
          <p:nvPr/>
        </p:nvSpPr>
        <p:spPr>
          <a:xfrm>
            <a:off x="1257300" y="3267075"/>
            <a:ext cx="1771650" cy="1047750"/>
          </a:xfrm>
          <a:prstGeom prst="roundRect">
            <a:avLst>
              <a:gd name="adj" fmla="val 14545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C81222-D796-47EA-9AAD-9E64D1E20833}"/>
              </a:ext>
            </a:extLst>
          </p:cNvPr>
          <p:cNvSpPr>
            <a:spLocks noGrp="1"/>
          </p:cNvSpPr>
          <p:nvPr/>
        </p:nvSpPr>
        <p:spPr>
          <a:xfrm>
            <a:off x="1447800" y="347662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Automatic risk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39C81A-C429-4D7D-A0F6-039800BA6255}"/>
              </a:ext>
            </a:extLst>
          </p:cNvPr>
          <p:cNvSpPr>
            <a:spLocks noGrp="1"/>
          </p:cNvSpPr>
          <p:nvPr/>
        </p:nvSpPr>
        <p:spPr>
          <a:xfrm>
            <a:off x="1447800" y="3800475"/>
            <a:ext cx="1390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AF8F0"/>
                </a:solidFill>
              </a:defRPr>
            </a:pPr>
            <a:r>
              <a:rPr sz="1200" b="0">
                <a:solidFill>
                  <a:srgbClr val="EAF8F0"/>
                </a:solidFill>
              </a:rPr>
              <a:t>Live field intelligence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9EA0C6-6BFE-4467-BE05-F0D1E42EA500}"/>
              </a:ext>
            </a:extLst>
          </p:cNvPr>
          <p:cNvSpPr>
            <a:spLocks noGrp="1"/>
          </p:cNvSpPr>
          <p:nvPr/>
        </p:nvSpPr>
        <p:spPr>
          <a:xfrm>
            <a:off x="1295400" y="44958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Rainfall 72h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22D645-418B-447F-9826-8F61083E37B5}"/>
              </a:ext>
            </a:extLst>
          </p:cNvPr>
          <p:cNvSpPr>
            <a:spLocks noGrp="1"/>
          </p:cNvSpPr>
          <p:nvPr/>
        </p:nvSpPr>
        <p:spPr>
          <a:xfrm>
            <a:off x="2133600" y="449580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120 mm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DDFB04C-96FD-4555-8730-1B6F31FBCFE7}"/>
              </a:ext>
            </a:extLst>
          </p:cNvPr>
          <p:cNvSpPr>
            <a:spLocks noGrp="1"/>
          </p:cNvSpPr>
          <p:nvPr/>
        </p:nvSpPr>
        <p:spPr>
          <a:xfrm>
            <a:off x="1295400" y="4819650"/>
            <a:ext cx="169545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5F4985-8AE3-4607-BD3E-0B76EBACBDBE}"/>
              </a:ext>
            </a:extLst>
          </p:cNvPr>
          <p:cNvSpPr>
            <a:spLocks noGrp="1"/>
          </p:cNvSpPr>
          <p:nvPr/>
        </p:nvSpPr>
        <p:spPr>
          <a:xfrm>
            <a:off x="1295400" y="4819650"/>
            <a:ext cx="593408" cy="85725"/>
          </a:xfrm>
          <a:prstGeom prst="roundRect">
            <a:avLst>
              <a:gd name="adj" fmla="val 50000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35F98-8DC5-49A1-93F7-ADCC43B95558}"/>
              </a:ext>
            </a:extLst>
          </p:cNvPr>
          <p:cNvSpPr>
            <a:spLocks noGrp="1"/>
          </p:cNvSpPr>
          <p:nvPr/>
        </p:nvSpPr>
        <p:spPr>
          <a:xfrm>
            <a:off x="1295400" y="5029200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Terrain slope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D00EA6-D676-47BA-B2D2-1A5BDA999FB5}"/>
              </a:ext>
            </a:extLst>
          </p:cNvPr>
          <p:cNvSpPr>
            <a:spLocks noGrp="1"/>
          </p:cNvSpPr>
          <p:nvPr/>
        </p:nvSpPr>
        <p:spPr>
          <a:xfrm>
            <a:off x="2133600" y="502920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25 deg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9987CB-7C60-4E3A-94A1-437F28538CC5}"/>
              </a:ext>
            </a:extLst>
          </p:cNvPr>
          <p:cNvSpPr>
            <a:spLocks noGrp="1"/>
          </p:cNvSpPr>
          <p:nvPr/>
        </p:nvSpPr>
        <p:spPr>
          <a:xfrm>
            <a:off x="1295400" y="5353050"/>
            <a:ext cx="169545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459A1D-61D8-4925-80FD-92D875D63D3E}"/>
              </a:ext>
            </a:extLst>
          </p:cNvPr>
          <p:cNvSpPr>
            <a:spLocks noGrp="1"/>
          </p:cNvSpPr>
          <p:nvPr/>
        </p:nvSpPr>
        <p:spPr>
          <a:xfrm>
            <a:off x="1295400" y="5353050"/>
            <a:ext cx="864680" cy="85725"/>
          </a:xfrm>
          <a:prstGeom prst="roundRect">
            <a:avLst>
              <a:gd name="adj" fmla="val 50000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6713AC9-345B-421A-AED0-4BAEACEB2894}"/>
              </a:ext>
            </a:extLst>
          </p:cNvPr>
          <p:cNvSpPr>
            <a:spLocks noGrp="1"/>
          </p:cNvSpPr>
          <p:nvPr/>
        </p:nvSpPr>
        <p:spPr>
          <a:xfrm>
            <a:off x="1333500" y="5476875"/>
            <a:ext cx="1619250" cy="361950"/>
          </a:xfrm>
          <a:prstGeom prst="roundRect">
            <a:avLst>
              <a:gd name="adj" fmla="val 42105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1EF85C-CECE-466F-86DD-D49F2EF5D554}"/>
              </a:ext>
            </a:extLst>
          </p:cNvPr>
          <p:cNvSpPr>
            <a:spLocks noGrp="1"/>
          </p:cNvSpPr>
          <p:nvPr/>
        </p:nvSpPr>
        <p:spPr>
          <a:xfrm>
            <a:off x="1333500" y="55721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Refresh live assessment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E63D94-C83E-4CD6-8A21-E191225A0A37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6191250" cy="2952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Inputs: 72-hour rainfall, terrain slope, soil moisture, movement or tilt.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Output: hillside stability risk level.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Dashboard hides raw sensor labels and presents field intelligence.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History helps compare recent assessments.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Guidance supports evacuation awareness and officer escalation.</a:t>
            </a:r>
          </a:p>
        </p:txBody>
      </p:sp>
    </p:spTree>
    <p:extLst>
      <p:ext uri="{BB962C8B-B14F-4D97-AF65-F5344CB8AC3E}">
        <p14:creationId xmlns:p14="http://schemas.microsoft.com/office/powerpoint/2010/main" val="1204317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FFBD752C-487F-432B-A85D-E893BFBB4B7E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7934523-B23F-4C24-8CC0-29E8C62833A0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182380-9BAD-4DFE-A55F-BBF489C2A01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44E568-EDD5-464C-8E05-ED56DDAC77C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D91D8B-5183-4B13-9C4D-A42B61FADB1B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Smart garbage management supports both citizens and officers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2B6E0-9438-4C23-81F3-52E34984362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module changes garbage reporting from complaint-only to capacity-aware service.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9B74318-B5EA-4CAE-A936-0AF9C76B7B6F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1432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921A40-B7CF-4A04-8408-D8F0B4E98D99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2BB4B2-6A06-463C-B8A5-1882C0AD5A35}"/>
              </a:ext>
            </a:extLst>
          </p:cNvPr>
          <p:cNvSpPr>
            <a:spLocks noGrp="1"/>
          </p:cNvSpPr>
          <p:nvPr/>
        </p:nvSpPr>
        <p:spPr>
          <a:xfrm>
            <a:off x="1085850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Citizen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F77AE4-2D16-4243-A926-1AB053A02DAD}"/>
              </a:ext>
            </a:extLst>
          </p:cNvPr>
          <p:cNvSpPr>
            <a:spLocks noGrp="1"/>
          </p:cNvSpPr>
          <p:nvPr/>
        </p:nvSpPr>
        <p:spPr>
          <a:xfrm>
            <a:off x="1085850" y="2971800"/>
            <a:ext cx="268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Find a bin with free space, see fill percentage, and get directions.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8911EF9-8504-4368-B094-90232BC728E5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31432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D68BBB-6286-4E44-9D4A-739F10CF653E}"/>
              </a:ext>
            </a:extLst>
          </p:cNvPr>
          <p:cNvSpPr>
            <a:spLocks noGrp="1"/>
          </p:cNvSpPr>
          <p:nvPr/>
        </p:nvSpPr>
        <p:spPr>
          <a:xfrm>
            <a:off x="4524375" y="23812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6799CE-A6F4-43AA-87EA-3EF2BA16FD5F}"/>
              </a:ext>
            </a:extLst>
          </p:cNvPr>
          <p:cNvSpPr>
            <a:spLocks noGrp="1"/>
          </p:cNvSpPr>
          <p:nvPr/>
        </p:nvSpPr>
        <p:spPr>
          <a:xfrm>
            <a:off x="4752975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Officer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C7306-560B-4895-9D19-C643B6403D80}"/>
              </a:ext>
            </a:extLst>
          </p:cNvPr>
          <p:cNvSpPr>
            <a:spLocks noGrp="1"/>
          </p:cNvSpPr>
          <p:nvPr/>
        </p:nvSpPr>
        <p:spPr>
          <a:xfrm>
            <a:off x="4752975" y="2971800"/>
            <a:ext cx="268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See full-bin reports, assign collection work, and mark bins free after clearing.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A0ABCB-D995-4DA6-B27F-B032D88B7C6F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314325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8FEAD6-9A9B-4A4F-9DC0-586292FFC07B}"/>
              </a:ext>
            </a:extLst>
          </p:cNvPr>
          <p:cNvSpPr>
            <a:spLocks noGrp="1"/>
          </p:cNvSpPr>
          <p:nvPr/>
        </p:nvSpPr>
        <p:spPr>
          <a:xfrm>
            <a:off x="8191500" y="2381250"/>
            <a:ext cx="76200" cy="152400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DE2FBC-EE28-4176-BF5C-A77064F7B675}"/>
              </a:ext>
            </a:extLst>
          </p:cNvPr>
          <p:cNvSpPr>
            <a:spLocks noGrp="1"/>
          </p:cNvSpPr>
          <p:nvPr/>
        </p:nvSpPr>
        <p:spPr>
          <a:xfrm>
            <a:off x="8420100" y="2571750"/>
            <a:ext cx="2686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AI value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38CF44-FA50-4F7D-918C-334B006E40D2}"/>
              </a:ext>
            </a:extLst>
          </p:cNvPr>
          <p:cNvSpPr>
            <a:spLocks noGrp="1"/>
          </p:cNvSpPr>
          <p:nvPr/>
        </p:nvSpPr>
        <p:spPr>
          <a:xfrm>
            <a:off x="8420100" y="2971800"/>
            <a:ext cx="268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Classify waste photos to support plastic, glass, metal, paper, and mixed waste reporting.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2D7B6A-5AEA-4F43-8DF8-08ECCDA18FF4}"/>
              </a:ext>
            </a:extLst>
          </p:cNvPr>
          <p:cNvSpPr>
            <a:spLocks noGrp="1"/>
          </p:cNvSpPr>
          <p:nvPr/>
        </p:nvSpPr>
        <p:spPr>
          <a:xfrm>
            <a:off x="1381125" y="4619625"/>
            <a:ext cx="9334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Fill level: 0-60% safe, 61-79% medium, 80-100% full.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The app displays used weight, free percentage, and remaining capacity.</a:t>
            </a:r>
          </a:p>
        </p:txBody>
      </p:sp>
    </p:spTree>
    <p:extLst>
      <p:ext uri="{BB962C8B-B14F-4D97-AF65-F5344CB8AC3E}">
        <p14:creationId xmlns:p14="http://schemas.microsoft.com/office/powerpoint/2010/main" val="882064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98922AF3-71EF-4B43-B611-2E7EE57FD4D8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982AF95-279E-437B-A754-2116689417E1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1D4EF7C-E27A-4EF8-95EE-5AE5CFA884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12352A"/>
          </a:solidFill>
          <a:ln w="0">
            <a:noFill/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93DCBC5-BA81-460F-821A-E4A6B728585E}"/>
              </a:ext>
            </a:extLst>
          </p:cNvPr>
          <p:cNvSpPr>
            <a:spLocks noGrp="1"/>
          </p:cNvSpPr>
          <p:nvPr/>
        </p:nvSpPr>
        <p:spPr>
          <a:xfrm>
            <a:off x="8572500" y="857250"/>
            <a:ext cx="2381250" cy="2381250"/>
          </a:xfrm>
          <a:prstGeom prst="ellipse">
            <a:avLst/>
          </a:prstGeom>
          <a:solidFill>
            <a:srgbClr val="11855F"/>
          </a:solidFill>
          <a:ln w="0">
            <a:noFill/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CE7C40B-1D81-4AF5-AD64-079B8BCDDEE4}"/>
              </a:ext>
            </a:extLst>
          </p:cNvPr>
          <p:cNvSpPr>
            <a:spLocks noGrp="1"/>
          </p:cNvSpPr>
          <p:nvPr/>
        </p:nvSpPr>
        <p:spPr>
          <a:xfrm>
            <a:off x="9525000" y="2286000"/>
            <a:ext cx="1524000" cy="1524000"/>
          </a:xfrm>
          <a:prstGeom prst="ellipse">
            <a:avLst/>
          </a:prstGeom>
          <a:solidFill>
            <a:srgbClr val="FFFFFF">
              <a:alpha val="13333"/>
            </a:srgbClr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658B30-D9FB-4B77-918B-C183205CE09B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9DD8BD"/>
                </a:solidFill>
              </a:defRPr>
            </a:pPr>
            <a:r>
              <a:rPr sz="1200" b="1">
                <a:solidFill>
                  <a:srgbClr val="9DD8BD"/>
                </a:solidFill>
              </a:rPr>
              <a:t>AI AND 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02BE42-4A1F-4603-B7FA-57F8BAA3AFB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Models make the app smarter without making citizens handle complexity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1171F6-C2A3-4B99-8BB2-41841C7A28BC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7239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On-device AI supports offline prediction.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Online GenAI improves assistant answers when internet is available.</a:t>
            </a:r>
          </a:p>
          <a:p>
            <a:pPr algn="l">
              <a:defRPr sz="1725" b="0">
                <a:solidFill>
                  <a:srgbClr val="E3F4EA"/>
                </a:solidFill>
              </a:defRPr>
            </a:pPr>
            <a:r>
              <a:rPr sz="1725" b="0">
                <a:solidFill>
                  <a:srgbClr val="E3F4EA"/>
                </a:solidFill>
              </a:rPr>
              <a:t>- The user interface presents risk and guidance, not model internals.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A04D53-3178-462C-8185-79C23E431B6C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9DD8BD"/>
                </a:solidFill>
              </a:defRPr>
            </a:pPr>
            <a:r>
              <a:rPr sz="1050" b="0">
                <a:solidFill>
                  <a:srgbClr val="9DD8BD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946922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D8846C6B-D54C-4CA5-B771-0643E17C8FCF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E00814A-D8C6-4C43-AFD1-9F6FDF3D4AFA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D12865-4106-4E7C-B4A9-2C0E8D4E49D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B83751-BE8D-44CF-B169-5FA648442CF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69807B-76DD-4E2E-B320-6F2826696378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ML training has four separate problem types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B1C8B8-89A4-4C19-939A-E2B52BB74FF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Each model is trained differently because each input type is different.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8EE207A-9743-4B77-939D-493B417C65F1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953000" cy="1285875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C7133E-0569-4029-94AF-3BCC7DF28DA2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8CA525-113C-4AF3-B2A6-DBA6B139310F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Elephant detection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7685D-6560-481E-BEEF-82FE0646206E}"/>
              </a:ext>
            </a:extLst>
          </p:cNvPr>
          <p:cNvSpPr>
            <a:spLocks noGrp="1"/>
          </p:cNvSpPr>
          <p:nvPr/>
        </p:nvSpPr>
        <p:spPr>
          <a:xfrm>
            <a:off x="990600" y="2971800"/>
            <a:ext cx="4495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Image/object detection from camera frames and labeled elephant images.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EF91D0-D452-4A30-9831-B520BA971639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4953000" cy="1285875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52AFDBC-8299-4D64-9223-AAB7CF525F14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DE303C-AE89-44A7-860D-526D1FE5AD2E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Garbage classification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C6D608-0CA9-4561-9C64-D0E712C370AC}"/>
              </a:ext>
            </a:extLst>
          </p:cNvPr>
          <p:cNvSpPr>
            <a:spLocks noGrp="1"/>
          </p:cNvSpPr>
          <p:nvPr/>
        </p:nvSpPr>
        <p:spPr>
          <a:xfrm>
            <a:off x="6705600" y="2971800"/>
            <a:ext cx="4495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Image classification for plastic, glass, metal, paper, mixed waste, and similar categories.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0D79A0-1451-4A74-8416-6628E0C2F811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4953000" cy="1285875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97A700-3C04-4375-8353-DE05B822E4BE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7BE64D-589F-44D3-9CE2-AEA6C7C5B957}"/>
              </a:ext>
            </a:extLst>
          </p:cNvPr>
          <p:cNvSpPr>
            <a:spLocks noGrp="1"/>
          </p:cNvSpPr>
          <p:nvPr/>
        </p:nvSpPr>
        <p:spPr>
          <a:xfrm>
            <a:off x="990600" y="4238625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Flood prediction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F5F313-E808-48D1-A29B-99075E7911B7}"/>
              </a:ext>
            </a:extLst>
          </p:cNvPr>
          <p:cNvSpPr>
            <a:spLocks noGrp="1"/>
          </p:cNvSpPr>
          <p:nvPr/>
        </p:nvSpPr>
        <p:spPr>
          <a:xfrm>
            <a:off x="990600" y="4638675"/>
            <a:ext cx="4495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Tabular model using rainfall, water level, and drainage effectiveness.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3A1EDC-05F5-415A-AAAE-5A79688741B1}"/>
              </a:ext>
            </a:extLst>
          </p:cNvPr>
          <p:cNvSpPr>
            <a:spLocks noGrp="1"/>
          </p:cNvSpPr>
          <p:nvPr/>
        </p:nvSpPr>
        <p:spPr>
          <a:xfrm>
            <a:off x="6477000" y="4048125"/>
            <a:ext cx="4953000" cy="1285875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38EC18-7F2F-454B-BD72-3DC3FF42AD15}"/>
              </a:ext>
            </a:extLst>
          </p:cNvPr>
          <p:cNvSpPr>
            <a:spLocks noGrp="1"/>
          </p:cNvSpPr>
          <p:nvPr/>
        </p:nvSpPr>
        <p:spPr>
          <a:xfrm>
            <a:off x="6477000" y="4048125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8C5A31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5675D6-F332-428E-B9C8-7A573441154A}"/>
              </a:ext>
            </a:extLst>
          </p:cNvPr>
          <p:cNvSpPr>
            <a:spLocks noGrp="1"/>
          </p:cNvSpPr>
          <p:nvPr/>
        </p:nvSpPr>
        <p:spPr>
          <a:xfrm>
            <a:off x="6705600" y="4238625"/>
            <a:ext cx="449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Landslide prediction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4ED837-4444-49C6-99A2-904752A5C89A}"/>
              </a:ext>
            </a:extLst>
          </p:cNvPr>
          <p:cNvSpPr>
            <a:spLocks noGrp="1"/>
          </p:cNvSpPr>
          <p:nvPr/>
        </p:nvSpPr>
        <p:spPr>
          <a:xfrm>
            <a:off x="6705600" y="4638675"/>
            <a:ext cx="44958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Tabular model using rainfall, slope, soil moisture, vibration, and tilt signals.</a:t>
            </a:r>
          </a:p>
        </p:txBody>
      </p:sp>
    </p:spTree>
    <p:extLst>
      <p:ext uri="{BB962C8B-B14F-4D97-AF65-F5344CB8AC3E}">
        <p14:creationId xmlns:p14="http://schemas.microsoft.com/office/powerpoint/2010/main" val="335549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DE8C260B-194D-42ED-A4F3-929008F89D52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8CF4BB-DA2F-4849-81B9-01EF42A03170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95DD1B-4117-4F6C-8871-1A08EE8D723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1F080-DCA5-41A3-9C16-D1A1FE8F0B3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E85483-879A-4087-9FA4-45CB905F139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Training pipeline turns field data into mobile 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ADCFF4-F7E8-4A6A-8057-A046D045F523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model plan is practical: collect, clean, train, test, convert, deploy.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1113FD-1531-4258-87C6-E83DDBDF12EC}"/>
              </a:ext>
            </a:extLst>
          </p:cNvPr>
          <p:cNvSpPr>
            <a:spLocks noGrp="1"/>
          </p:cNvSpPr>
          <p:nvPr/>
        </p:nvSpPr>
        <p:spPr>
          <a:xfrm>
            <a:off x="762000" y="2286000"/>
            <a:ext cx="571500" cy="57150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978FB-E7B1-4A74-9FE6-21E0B2061C65}"/>
              </a:ext>
            </a:extLst>
          </p:cNvPr>
          <p:cNvSpPr>
            <a:spLocks noGrp="1"/>
          </p:cNvSpPr>
          <p:nvPr/>
        </p:nvSpPr>
        <p:spPr>
          <a:xfrm>
            <a:off x="762000" y="23907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241538-44BF-4CDC-9CD6-49C1C76F0B33}"/>
              </a:ext>
            </a:extLst>
          </p:cNvPr>
          <p:cNvSpPr>
            <a:spLocks noGrp="1"/>
          </p:cNvSpPr>
          <p:nvPr/>
        </p:nvSpPr>
        <p:spPr>
          <a:xfrm>
            <a:off x="1504950" y="2286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Gather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0ADFF-1472-449E-B534-8BFFE47E3BF6}"/>
              </a:ext>
            </a:extLst>
          </p:cNvPr>
          <p:cNvSpPr>
            <a:spLocks noGrp="1"/>
          </p:cNvSpPr>
          <p:nvPr/>
        </p:nvSpPr>
        <p:spPr>
          <a:xfrm>
            <a:off x="1504950" y="2667000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Images, sensor readings, labels, locations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EDE625E-C17A-40CA-97AA-577F60F9EEEE}"/>
              </a:ext>
            </a:extLst>
          </p:cNvPr>
          <p:cNvSpPr>
            <a:spLocks noGrp="1"/>
          </p:cNvSpPr>
          <p:nvPr/>
        </p:nvSpPr>
        <p:spPr>
          <a:xfrm>
            <a:off x="4429125" y="2286000"/>
            <a:ext cx="571500" cy="57150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A12706-EAB4-4BD1-8BD4-1E5E0698E6AD}"/>
              </a:ext>
            </a:extLst>
          </p:cNvPr>
          <p:cNvSpPr>
            <a:spLocks noGrp="1"/>
          </p:cNvSpPr>
          <p:nvPr/>
        </p:nvSpPr>
        <p:spPr>
          <a:xfrm>
            <a:off x="4429125" y="23907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F551E6-5DA9-424B-9E0D-132C70CBBB5F}"/>
              </a:ext>
            </a:extLst>
          </p:cNvPr>
          <p:cNvSpPr>
            <a:spLocks noGrp="1"/>
          </p:cNvSpPr>
          <p:nvPr/>
        </p:nvSpPr>
        <p:spPr>
          <a:xfrm>
            <a:off x="5172075" y="2286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Clean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910484-955A-479A-8365-E72F340CE7DB}"/>
              </a:ext>
            </a:extLst>
          </p:cNvPr>
          <p:cNvSpPr>
            <a:spLocks noGrp="1"/>
          </p:cNvSpPr>
          <p:nvPr/>
        </p:nvSpPr>
        <p:spPr>
          <a:xfrm>
            <a:off x="5172075" y="2667000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Remove duplicates, normalize values, resize images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2D5A32E-5EEE-4D0B-B1F8-4C4103E60670}"/>
              </a:ext>
            </a:extLst>
          </p:cNvPr>
          <p:cNvSpPr>
            <a:spLocks noGrp="1"/>
          </p:cNvSpPr>
          <p:nvPr/>
        </p:nvSpPr>
        <p:spPr>
          <a:xfrm>
            <a:off x="8096250" y="2286000"/>
            <a:ext cx="571500" cy="57150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8CA97-857E-4F54-AB8E-D7E95AE85F78}"/>
              </a:ext>
            </a:extLst>
          </p:cNvPr>
          <p:cNvSpPr>
            <a:spLocks noGrp="1"/>
          </p:cNvSpPr>
          <p:nvPr/>
        </p:nvSpPr>
        <p:spPr>
          <a:xfrm>
            <a:off x="8096250" y="2390775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FFCE89-8844-4DCA-9220-CFA50EA19F9F}"/>
              </a:ext>
            </a:extLst>
          </p:cNvPr>
          <p:cNvSpPr>
            <a:spLocks noGrp="1"/>
          </p:cNvSpPr>
          <p:nvPr/>
        </p:nvSpPr>
        <p:spPr>
          <a:xfrm>
            <a:off x="8839200" y="22860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Train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AB06BF-149C-444A-987F-7EE13E98757A}"/>
              </a:ext>
            </a:extLst>
          </p:cNvPr>
          <p:cNvSpPr>
            <a:spLocks noGrp="1"/>
          </p:cNvSpPr>
          <p:nvPr/>
        </p:nvSpPr>
        <p:spPr>
          <a:xfrm>
            <a:off x="8839200" y="2667000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CNN/detection models and tabular risk models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B320FF7-5E1D-427F-9217-1DFC075523C8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571500" cy="57150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029172-0FC4-4E88-86AD-DE757201B610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9D94B7-2BA9-4D97-B530-DFB973A9F294}"/>
              </a:ext>
            </a:extLst>
          </p:cNvPr>
          <p:cNvSpPr>
            <a:spLocks noGrp="1"/>
          </p:cNvSpPr>
          <p:nvPr/>
        </p:nvSpPr>
        <p:spPr>
          <a:xfrm>
            <a:off x="1504950" y="3857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Validate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6186AB-7FB0-4898-9A08-70E80CE65387}"/>
              </a:ext>
            </a:extLst>
          </p:cNvPr>
          <p:cNvSpPr>
            <a:spLocks noGrp="1"/>
          </p:cNvSpPr>
          <p:nvPr/>
        </p:nvSpPr>
        <p:spPr>
          <a:xfrm>
            <a:off x="1504950" y="4238625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Accuracy, confusion matrix, field test cases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7F08F2-0F59-43B2-AA45-46D6289ED8F6}"/>
              </a:ext>
            </a:extLst>
          </p:cNvPr>
          <p:cNvSpPr>
            <a:spLocks noGrp="1"/>
          </p:cNvSpPr>
          <p:nvPr/>
        </p:nvSpPr>
        <p:spPr>
          <a:xfrm>
            <a:off x="4429125" y="3857625"/>
            <a:ext cx="571500" cy="57150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02A4DD-F7CF-4948-BE4A-9284E63ED4A6}"/>
              </a:ext>
            </a:extLst>
          </p:cNvPr>
          <p:cNvSpPr>
            <a:spLocks noGrp="1"/>
          </p:cNvSpPr>
          <p:nvPr/>
        </p:nvSpPr>
        <p:spPr>
          <a:xfrm>
            <a:off x="4429125" y="39624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E3C6AC-F516-48E0-95A6-B9DD7124C6F1}"/>
              </a:ext>
            </a:extLst>
          </p:cNvPr>
          <p:cNvSpPr>
            <a:spLocks noGrp="1"/>
          </p:cNvSpPr>
          <p:nvPr/>
        </p:nvSpPr>
        <p:spPr>
          <a:xfrm>
            <a:off x="5172075" y="3857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Convert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F94A66-CBB5-4FC3-A143-094D59DC0F02}"/>
              </a:ext>
            </a:extLst>
          </p:cNvPr>
          <p:cNvSpPr>
            <a:spLocks noGrp="1"/>
          </p:cNvSpPr>
          <p:nvPr/>
        </p:nvSpPr>
        <p:spPr>
          <a:xfrm>
            <a:off x="5172075" y="4238625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Export to TensorFlow Lite format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60EA9A-5842-46E2-97F4-11FD6D66E507}"/>
              </a:ext>
            </a:extLst>
          </p:cNvPr>
          <p:cNvSpPr>
            <a:spLocks noGrp="1"/>
          </p:cNvSpPr>
          <p:nvPr/>
        </p:nvSpPr>
        <p:spPr>
          <a:xfrm>
            <a:off x="8096250" y="3857625"/>
            <a:ext cx="571500" cy="571500"/>
          </a:xfrm>
          <a:prstGeom prst="ellipse">
            <a:avLst/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C83A02-DEA4-41BC-BBBE-594CC8AA5088}"/>
              </a:ext>
            </a:extLst>
          </p:cNvPr>
          <p:cNvSpPr>
            <a:spLocks noGrp="1"/>
          </p:cNvSpPr>
          <p:nvPr/>
        </p:nvSpPr>
        <p:spPr>
          <a:xfrm>
            <a:off x="8096250" y="396240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337F2B-6F0E-4EAF-A969-C6B9D45946FD}"/>
              </a:ext>
            </a:extLst>
          </p:cNvPr>
          <p:cNvSpPr>
            <a:spLocks noGrp="1"/>
          </p:cNvSpPr>
          <p:nvPr/>
        </p:nvSpPr>
        <p:spPr>
          <a:xfrm>
            <a:off x="8839200" y="3857625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Deploy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FE1E8A-B8EB-46E4-A9B7-09166B9CC570}"/>
              </a:ext>
            </a:extLst>
          </p:cNvPr>
          <p:cNvSpPr>
            <a:spLocks noGrp="1"/>
          </p:cNvSpPr>
          <p:nvPr/>
        </p:nvSpPr>
        <p:spPr>
          <a:xfrm>
            <a:off x="8839200" y="4238625"/>
            <a:ext cx="2476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Add .tflite files to Flutter assets</a:t>
            </a:r>
          </a:p>
        </p:txBody>
      </p:sp>
    </p:spTree>
    <p:extLst>
      <p:ext uri="{BB962C8B-B14F-4D97-AF65-F5344CB8AC3E}">
        <p14:creationId xmlns:p14="http://schemas.microsoft.com/office/powerpoint/2010/main" val="13044051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:a16="http://schemas.microsoft.com/office/drawing/2014/main" id="{EBF89384-7F3C-4DB9-ACF8-EF3E2D78F63C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48850D6-5DE4-4644-A46A-CC76D720D34F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C2F1B1-7990-455B-97EA-5247F1C022D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4D525-707A-4F6A-AEED-45FB0EA9A0C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879F4C-D9FE-4311-A09B-9BF366AA90E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TFLite and GenAI serve different jobs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E65779-C9C3-422A-9384-1F11ABA04217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combines fast offline intelligence with richer online assistance.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EEC4BE-7903-4DED-8729-55873291F0D0}"/>
              </a:ext>
            </a:extLst>
          </p:cNvPr>
          <p:cNvSpPr>
            <a:spLocks noGrp="1"/>
          </p:cNvSpPr>
          <p:nvPr/>
        </p:nvSpPr>
        <p:spPr>
          <a:xfrm>
            <a:off x="1095375" y="2571750"/>
            <a:ext cx="44767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B3B379-0F1A-453A-89B0-5C5311BC7C82}"/>
              </a:ext>
            </a:extLst>
          </p:cNvPr>
          <p:cNvSpPr>
            <a:spLocks noGrp="1"/>
          </p:cNvSpPr>
          <p:nvPr/>
        </p:nvSpPr>
        <p:spPr>
          <a:xfrm>
            <a:off x="1095375" y="2571750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639A87-1368-4FC9-B60F-19885B36C2F2}"/>
              </a:ext>
            </a:extLst>
          </p:cNvPr>
          <p:cNvSpPr>
            <a:spLocks noGrp="1"/>
          </p:cNvSpPr>
          <p:nvPr/>
        </p:nvSpPr>
        <p:spPr>
          <a:xfrm>
            <a:off x="1323975" y="276225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TFLite on device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4A579F-B811-43AE-9559-C05C8A9B0E0C}"/>
              </a:ext>
            </a:extLst>
          </p:cNvPr>
          <p:cNvSpPr>
            <a:spLocks noGrp="1"/>
          </p:cNvSpPr>
          <p:nvPr/>
        </p:nvSpPr>
        <p:spPr>
          <a:xfrm>
            <a:off x="1323975" y="3162300"/>
            <a:ext cx="40195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Fast, private, and usable with weak internet. Used for image classification and risk prediction modules.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7CB82D-B6AD-4374-834A-14AD1BED7F9F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4476750" cy="200025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6A1EA0F-CD19-496F-8678-E9193A3543BD}"/>
              </a:ext>
            </a:extLst>
          </p:cNvPr>
          <p:cNvSpPr>
            <a:spLocks noGrp="1"/>
          </p:cNvSpPr>
          <p:nvPr/>
        </p:nvSpPr>
        <p:spPr>
          <a:xfrm>
            <a:off x="6619875" y="2571750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E1B0F6-B797-41A0-B054-C854A1CE527D}"/>
              </a:ext>
            </a:extLst>
          </p:cNvPr>
          <p:cNvSpPr>
            <a:spLocks noGrp="1"/>
          </p:cNvSpPr>
          <p:nvPr/>
        </p:nvSpPr>
        <p:spPr>
          <a:xfrm>
            <a:off x="6848475" y="276225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Online GenAI assistant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DE95A-BBDF-4041-AED6-71294EE6C0C6}"/>
              </a:ext>
            </a:extLst>
          </p:cNvPr>
          <p:cNvSpPr>
            <a:spLocks noGrp="1"/>
          </p:cNvSpPr>
          <p:nvPr/>
        </p:nvSpPr>
        <p:spPr>
          <a:xfrm>
            <a:off x="6848475" y="3162300"/>
            <a:ext cx="40195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Provides richer safety answers when internet is available. Citizens do not need to configure API settings.</a:t>
            </a:r>
          </a:p>
        </p:txBody>
      </p:sp>
    </p:spTree>
    <p:extLst>
      <p:ext uri="{BB962C8B-B14F-4D97-AF65-F5344CB8AC3E}">
        <p14:creationId xmlns:p14="http://schemas.microsoft.com/office/powerpoint/2010/main" val="1171197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0925E116-EB30-4EC8-AAB0-316411861799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5A2C26-CE2F-44DF-A417-87CB5F255EDA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88114E-1B68-4861-890D-7165F198017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A361C0-907B-44F5-802E-15333151655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411563-9D73-4645-8ADE-9C3D19A7A2B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Security protects authority 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03B7B-04FF-496D-AC0C-D2AECCF0014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separates identity, role, and workflow permissions.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C60B2-7002-42DC-9739-B8938EAB7D7F}"/>
              </a:ext>
            </a:extLst>
          </p:cNvPr>
          <p:cNvSpPr>
            <a:spLocks noGrp="1"/>
          </p:cNvSpPr>
          <p:nvPr/>
        </p:nvSpPr>
        <p:spPr>
          <a:xfrm>
            <a:off x="1000125" y="2333625"/>
            <a:ext cx="8096250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Citizen registration uses NIC for uniqueness.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Officer login uses employee ID.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Admin creates officer accounts; officers cannot self-register.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Admin can see every module; citizens see location-relevant modules.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Privileged role login is not automatically preserved after app restart.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Firebase security rules should enforce role-based collection access in production.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1B8FBC-6DCB-4656-8183-04EC90288E04}"/>
              </a:ext>
            </a:extLst>
          </p:cNvPr>
          <p:cNvSpPr>
            <a:spLocks noGrp="1"/>
          </p:cNvSpPr>
          <p:nvPr/>
        </p:nvSpPr>
        <p:spPr>
          <a:xfrm>
            <a:off x="9620250" y="2762250"/>
            <a:ext cx="857250" cy="1428750"/>
          </a:xfrm>
          <a:prstGeom prst="roundRect">
            <a:avLst>
              <a:gd name="adj" fmla="val 17778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A7706048-7F7C-4977-A68F-BE57A9A52446}"/>
              </a:ext>
            </a:extLst>
          </p:cNvPr>
          <p:cNvSpPr>
            <a:spLocks noGrp="1"/>
          </p:cNvSpPr>
          <p:nvPr/>
        </p:nvSpPr>
        <p:spPr>
          <a:xfrm>
            <a:off x="9353550" y="2286000"/>
            <a:ext cx="1381125" cy="1381125"/>
          </a:xfrm>
          <a:prstGeom prst="arc">
            <a:avLst/>
          </a:prstGeom>
          <a:noFill/>
          <a:ln w="171450">
            <a:solidFill>
              <a:srgbClr val="0A6B4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0771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>
            <a:extLst>
              <a:ext uri="{FF2B5EF4-FFF2-40B4-BE49-F238E27FC236}">
                <a16:creationId xmlns:a16="http://schemas.microsoft.com/office/drawing/2014/main" id="{CEFE1C59-7852-4123-9C18-506F5303E62E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46F30C2-27AC-48E3-B681-7E6B6A0B4472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EED63A-76CC-455B-8DF6-8092DEBEC4E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0468E-2F6F-444A-8F59-7EBA23D1363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252567-65B4-4EFA-8110-1E656FFF8329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The mobile app is built as a complete product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1344CC-0BB9-4AD4-BCF6-73C764AF2C4C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Core app parts work together instead of remaining separate demos.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C5EA8B-74D4-4BC9-B9DC-D42C77A04EF4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44767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B186059-84C2-491F-8BEA-2A3B2C16D17E}"/>
              </a:ext>
            </a:extLst>
          </p:cNvPr>
          <p:cNvSpPr>
            <a:spLocks noGrp="1"/>
          </p:cNvSpPr>
          <p:nvPr/>
        </p:nvSpPr>
        <p:spPr>
          <a:xfrm>
            <a:off x="904875" y="2190750"/>
            <a:ext cx="76200" cy="8382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026429-0617-4D00-85DE-661B1154E6EC}"/>
              </a:ext>
            </a:extLst>
          </p:cNvPr>
          <p:cNvSpPr>
            <a:spLocks noGrp="1"/>
          </p:cNvSpPr>
          <p:nvPr/>
        </p:nvSpPr>
        <p:spPr>
          <a:xfrm>
            <a:off x="1133475" y="238125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Landing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8CA4B9-8230-4F28-9F74-80F85687AF84}"/>
              </a:ext>
            </a:extLst>
          </p:cNvPr>
          <p:cNvSpPr>
            <a:spLocks noGrp="1"/>
          </p:cNvSpPr>
          <p:nvPr/>
        </p:nvSpPr>
        <p:spPr>
          <a:xfrm>
            <a:off x="1133475" y="2781300"/>
            <a:ext cx="4019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Video hero, app purpose, global citizen positioning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75B5AF-3FD8-4370-B2C7-2EC5483615B6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44767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0DFC61-7E8A-4A01-8EED-C1CCF16CC575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76200" cy="83820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5C59E2-F2FF-439E-9173-2E5B0F5F0DF3}"/>
              </a:ext>
            </a:extLst>
          </p:cNvPr>
          <p:cNvSpPr>
            <a:spLocks noGrp="1"/>
          </p:cNvSpPr>
          <p:nvPr/>
        </p:nvSpPr>
        <p:spPr>
          <a:xfrm>
            <a:off x="6419850" y="238125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Home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FF464F-1CD8-489B-A85C-73C9A71D0BFE}"/>
              </a:ext>
            </a:extLst>
          </p:cNvPr>
          <p:cNvSpPr>
            <a:spLocks noGrp="1"/>
          </p:cNvSpPr>
          <p:nvPr/>
        </p:nvSpPr>
        <p:spPr>
          <a:xfrm>
            <a:off x="6419850" y="2781300"/>
            <a:ext cx="4019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Location-aware safety cards and live IoT summaries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B372B6-0EBD-4E6E-9C8B-A317B4EAC6EC}"/>
              </a:ext>
            </a:extLst>
          </p:cNvPr>
          <p:cNvSpPr>
            <a:spLocks noGrp="1"/>
          </p:cNvSpPr>
          <p:nvPr/>
        </p:nvSpPr>
        <p:spPr>
          <a:xfrm>
            <a:off x="904875" y="3286125"/>
            <a:ext cx="44767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71AA8A-ACF1-4BDF-AD9B-48C8D970F183}"/>
              </a:ext>
            </a:extLst>
          </p:cNvPr>
          <p:cNvSpPr>
            <a:spLocks noGrp="1"/>
          </p:cNvSpPr>
          <p:nvPr/>
        </p:nvSpPr>
        <p:spPr>
          <a:xfrm>
            <a:off x="904875" y="3286125"/>
            <a:ext cx="76200" cy="8382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A00A95-7773-4FD2-8E99-765988BA773A}"/>
              </a:ext>
            </a:extLst>
          </p:cNvPr>
          <p:cNvSpPr>
            <a:spLocks noGrp="1"/>
          </p:cNvSpPr>
          <p:nvPr/>
        </p:nvSpPr>
        <p:spPr>
          <a:xfrm>
            <a:off x="1133475" y="347662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Modules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65465A-4598-4EE3-BE74-C527D0897689}"/>
              </a:ext>
            </a:extLst>
          </p:cNvPr>
          <p:cNvSpPr>
            <a:spLocks noGrp="1"/>
          </p:cNvSpPr>
          <p:nvPr/>
        </p:nvSpPr>
        <p:spPr>
          <a:xfrm>
            <a:off x="1133475" y="3876675"/>
            <a:ext cx="4019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Elephant, flood, landslide, garbage intelligence screens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D33BDC-B64C-4B8D-B0DF-834703A53EA2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44767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A27CC0E-5C02-4F20-918E-3A27F90478B4}"/>
              </a:ext>
            </a:extLst>
          </p:cNvPr>
          <p:cNvSpPr>
            <a:spLocks noGrp="1"/>
          </p:cNvSpPr>
          <p:nvPr/>
        </p:nvSpPr>
        <p:spPr>
          <a:xfrm>
            <a:off x="6191250" y="3286125"/>
            <a:ext cx="76200" cy="83820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BF3844-E03B-4736-9490-728C009D0325}"/>
              </a:ext>
            </a:extLst>
          </p:cNvPr>
          <p:cNvSpPr>
            <a:spLocks noGrp="1"/>
          </p:cNvSpPr>
          <p:nvPr/>
        </p:nvSpPr>
        <p:spPr>
          <a:xfrm>
            <a:off x="6419850" y="3476625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Workflows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C01C56-6105-4BD3-B152-29DA86F7EB6A}"/>
              </a:ext>
            </a:extLst>
          </p:cNvPr>
          <p:cNvSpPr>
            <a:spLocks noGrp="1"/>
          </p:cNvSpPr>
          <p:nvPr/>
        </p:nvSpPr>
        <p:spPr>
          <a:xfrm>
            <a:off x="6419850" y="3876675"/>
            <a:ext cx="4019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Citizen report, officer review, admin control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D74218-64B9-4627-868C-B0C935778875}"/>
              </a:ext>
            </a:extLst>
          </p:cNvPr>
          <p:cNvSpPr>
            <a:spLocks noGrp="1"/>
          </p:cNvSpPr>
          <p:nvPr/>
        </p:nvSpPr>
        <p:spPr>
          <a:xfrm>
            <a:off x="904875" y="4381500"/>
            <a:ext cx="44767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97174C-7ABF-41E3-A088-A8E336C9667D}"/>
              </a:ext>
            </a:extLst>
          </p:cNvPr>
          <p:cNvSpPr>
            <a:spLocks noGrp="1"/>
          </p:cNvSpPr>
          <p:nvPr/>
        </p:nvSpPr>
        <p:spPr>
          <a:xfrm>
            <a:off x="904875" y="4381500"/>
            <a:ext cx="76200" cy="8382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D80AB3-08F5-466C-9B14-D25FC2907E42}"/>
              </a:ext>
            </a:extLst>
          </p:cNvPr>
          <p:cNvSpPr>
            <a:spLocks noGrp="1"/>
          </p:cNvSpPr>
          <p:nvPr/>
        </p:nvSpPr>
        <p:spPr>
          <a:xfrm>
            <a:off x="1133475" y="457200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Assistant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24B7BC-89EC-413E-B28E-E976ACB047F6}"/>
              </a:ext>
            </a:extLst>
          </p:cNvPr>
          <p:cNvSpPr>
            <a:spLocks noGrp="1"/>
          </p:cNvSpPr>
          <p:nvPr/>
        </p:nvSpPr>
        <p:spPr>
          <a:xfrm>
            <a:off x="1133475" y="4972050"/>
            <a:ext cx="4019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Offline guidance and online GenAI answers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09E1D6-00D7-481F-8DA5-AACA9EE38A88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4476750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3B0FB0F-4223-4098-8AC5-58FC834E358B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76200" cy="83820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A436E9-0EC3-40CF-8F0F-7CAB214C2C05}"/>
              </a:ext>
            </a:extLst>
          </p:cNvPr>
          <p:cNvSpPr>
            <a:spLocks noGrp="1"/>
          </p:cNvSpPr>
          <p:nvPr/>
        </p:nvSpPr>
        <p:spPr>
          <a:xfrm>
            <a:off x="6419850" y="4572000"/>
            <a:ext cx="4019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Map/Contacts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3B5E6C-256F-4C57-9CF6-4ED7A1E60F1B}"/>
              </a:ext>
            </a:extLst>
          </p:cNvPr>
          <p:cNvSpPr>
            <a:spLocks noGrp="1"/>
          </p:cNvSpPr>
          <p:nvPr/>
        </p:nvSpPr>
        <p:spPr>
          <a:xfrm>
            <a:off x="6419850" y="4972050"/>
            <a:ext cx="4019550" cy="95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Safety hotspots and emergency contact access</a:t>
            </a:r>
          </a:p>
        </p:txBody>
      </p:sp>
    </p:spTree>
    <p:extLst>
      <p:ext uri="{BB962C8B-B14F-4D97-AF65-F5344CB8AC3E}">
        <p14:creationId xmlns:p14="http://schemas.microsoft.com/office/powerpoint/2010/main" val="611845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B83EC3C8-DCF2-406E-96EF-D4822E978F4C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24462A3-D459-49A0-806E-32FF7FD1F95D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53DA18-EE96-4302-8042-5A049D7BB53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E86662-CFE3-4365-9AED-33643DD3E83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1B40EA-654D-4D8F-9FD3-96AE74E26312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Testing confirms the main behavior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2A5A6-D370-4B42-97EE-42F74C96AFFB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app has automated checks for login, roles, reports, risk scoring, and assistant behavior.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="1047750" y="2571750"/>
          <a:ext cx="476250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7AFA4C85-B24B-4A13-B65A-54527C4F8F33}"/>
              </a:ext>
            </a:extLst>
          </p:cNvPr>
          <p:cNvSpPr>
            <a:spLocks noGrp="1"/>
          </p:cNvSpPr>
          <p:nvPr/>
        </p:nvSpPr>
        <p:spPr>
          <a:xfrm>
            <a:off x="6667500" y="2714625"/>
            <a:ext cx="4286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flutter analyze: no issues found.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flutter test: 12 tests passed.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flutter build apk --debug: APK built successfully.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Debug APK path: build/app/outputs/flutter-apk/app-debug.apk</a:t>
            </a:r>
          </a:p>
        </p:txBody>
      </p:sp>
    </p:spTree>
    <p:extLst>
      <p:ext uri="{BB962C8B-B14F-4D97-AF65-F5344CB8AC3E}">
        <p14:creationId xmlns:p14="http://schemas.microsoft.com/office/powerpoint/2010/main" val="1041450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96E472D7-111C-49AB-BAE0-A9CCB0F7174B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62A45C-F702-4629-A364-EA7AC53CF73C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ECC4BD-62D3-4291-95CC-AB4D60C196F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B0404-A420-4337-BB2F-71F640405A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166B96-FBC3-400D-AD9C-4DE49DA9D32C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Deployment path is clear for Android and iOS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701C34-8FB5-48D9-AEDB-6429057596B4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current build is Android-ready; iOS needs Apple tooling.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E84170-72AA-4ADC-A92C-473921325170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4572000" cy="1762125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ABDBCE-8C59-43E6-B6F4-60AA634DF756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76200" cy="1762125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809614-15A3-45DB-A1B2-52C9DC824703}"/>
              </a:ext>
            </a:extLst>
          </p:cNvPr>
          <p:cNvSpPr>
            <a:spLocks noGrp="1"/>
          </p:cNvSpPr>
          <p:nvPr/>
        </p:nvSpPr>
        <p:spPr>
          <a:xfrm>
            <a:off x="1181100" y="2667000"/>
            <a:ext cx="411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Android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166327-C609-4A7A-B74C-FFE713173D98}"/>
              </a:ext>
            </a:extLst>
          </p:cNvPr>
          <p:cNvSpPr>
            <a:spLocks noGrp="1"/>
          </p:cNvSpPr>
          <p:nvPr/>
        </p:nvSpPr>
        <p:spPr>
          <a:xfrm>
            <a:off x="1181100" y="3067050"/>
            <a:ext cx="41148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Build debug or release APK from Flutter and install with ADB or distribute through Play Store.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5DD11D-6E6D-478F-8FE5-2F02CBDFC345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4572000" cy="1762125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4066C9-860C-4B4D-8AAA-27F4A8251141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76200" cy="1762125"/>
          </a:xfrm>
          <a:prstGeom prst="roundRect">
            <a:avLst>
              <a:gd name="adj" fmla="val 50000"/>
            </a:avLst>
          </a:prstGeom>
          <a:solidFill>
            <a:srgbClr val="0B83C5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C1BD1D-3A82-415F-B8EE-8C5F7272B7C7}"/>
              </a:ext>
            </a:extLst>
          </p:cNvPr>
          <p:cNvSpPr>
            <a:spLocks noGrp="1"/>
          </p:cNvSpPr>
          <p:nvPr/>
        </p:nvSpPr>
        <p:spPr>
          <a:xfrm>
            <a:off x="6896100" y="2667000"/>
            <a:ext cx="4114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iOS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0F2097-A766-4276-8DFF-63811E172562}"/>
              </a:ext>
            </a:extLst>
          </p:cNvPr>
          <p:cNvSpPr>
            <a:spLocks noGrp="1"/>
          </p:cNvSpPr>
          <p:nvPr/>
        </p:nvSpPr>
        <p:spPr>
          <a:xfrm>
            <a:off x="6896100" y="3067050"/>
            <a:ext cx="4114800" cy="1019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Requires macOS, Xcode, Apple Developer account, iOS Firebase config, and App Store/TestFlight setup.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36E19B-A9D5-4FDB-890C-7F9897C650CD}"/>
              </a:ext>
            </a:extLst>
          </p:cNvPr>
          <p:cNvSpPr>
            <a:spLocks noGrp="1"/>
          </p:cNvSpPr>
          <p:nvPr/>
        </p:nvSpPr>
        <p:spPr>
          <a:xfrm>
            <a:off x="2381250" y="4667250"/>
            <a:ext cx="7429500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287E4CE-F12C-4AA9-988A-9806E5D63B48}"/>
              </a:ext>
            </a:extLst>
          </p:cNvPr>
          <p:cNvSpPr>
            <a:spLocks noGrp="1"/>
          </p:cNvSpPr>
          <p:nvPr/>
        </p:nvSpPr>
        <p:spPr>
          <a:xfrm>
            <a:off x="2381250" y="466725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E79B22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A1FDE2-731F-49F4-B173-0B24AF07CE8A}"/>
              </a:ext>
            </a:extLst>
          </p:cNvPr>
          <p:cNvSpPr>
            <a:spLocks noGrp="1"/>
          </p:cNvSpPr>
          <p:nvPr/>
        </p:nvSpPr>
        <p:spPr>
          <a:xfrm>
            <a:off x="2609850" y="4857750"/>
            <a:ext cx="697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Production readiness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CED168-E1C8-4175-946E-8A00E68944B4}"/>
              </a:ext>
            </a:extLst>
          </p:cNvPr>
          <p:cNvSpPr>
            <a:spLocks noGrp="1"/>
          </p:cNvSpPr>
          <p:nvPr/>
        </p:nvSpPr>
        <p:spPr>
          <a:xfrm>
            <a:off x="2609850" y="5257800"/>
            <a:ext cx="6972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Finalize Firebase rules, real trained models, sensor calibration, push notifications, and release signing.</a:t>
            </a:r>
          </a:p>
        </p:txBody>
      </p:sp>
    </p:spTree>
    <p:extLst>
      <p:ext uri="{BB962C8B-B14F-4D97-AF65-F5344CB8AC3E}">
        <p14:creationId xmlns:p14="http://schemas.microsoft.com/office/powerpoint/2010/main" val="9023847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9E49EFE0-5011-429B-935C-5BB6AEB8AE24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76B909-659A-47CC-BB14-73D1FD96E5BF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D2AE8E-8B30-4578-9D5F-44630DD316DF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C81DAD-A929-409F-B9F0-8A561968EE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0A6B49"/>
                </a:solidFill>
              </a:defRPr>
            </a:pPr>
            <a:r>
              <a:rPr sz="975" b="1">
                <a:solidFill>
                  <a:srgbClr val="0A6B49"/>
                </a:solidFill>
              </a:rPr>
              <a:t>ALPHA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4CC1D6-8F23-4F75-8100-56EEC213491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7429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12352A"/>
                </a:solidFill>
              </a:defRPr>
            </a:pPr>
            <a:r>
              <a:rPr sz="2925" b="1">
                <a:solidFill>
                  <a:srgbClr val="12352A"/>
                </a:solidFill>
              </a:rPr>
              <a:t>Limitations define the next engineering work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EEF6A6-DBFE-4877-8169-AE319133A2E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723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5D6B63"/>
                </a:solidFill>
              </a:defRPr>
            </a:pPr>
            <a:r>
              <a:rPr sz="1500" b="0">
                <a:solidFill>
                  <a:srgbClr val="5D6B63"/>
                </a:solidFill>
              </a:rPr>
              <a:t>The current app is strong for alpha/final project demonstration, with clear production upgrades.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7EF20D-24A9-4EFC-9CCE-D5CBB9057AE4}"/>
              </a:ext>
            </a:extLst>
          </p:cNvPr>
          <p:cNvSpPr>
            <a:spLocks noGrp="1"/>
          </p:cNvSpPr>
          <p:nvPr/>
        </p:nvSpPr>
        <p:spPr>
          <a:xfrm>
            <a:off x="1047750" y="2428875"/>
            <a:ext cx="6858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AI accuracy depends on real field datasets and balanced labels.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Sensor calibration must be completed before real public safety use.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Camera stream reliability depends on network and camera configuration.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Offline sync needs conflict handling for full production scale.</a:t>
            </a:r>
          </a:p>
          <a:p>
            <a:pPr algn="l">
              <a:defRPr sz="1800" b="0">
                <a:solidFill>
                  <a:srgbClr val="12352A"/>
                </a:solidFill>
              </a:defRPr>
            </a:pPr>
            <a:r>
              <a:rPr sz="1800" b="0">
                <a:solidFill>
                  <a:srgbClr val="12352A"/>
                </a:solidFill>
              </a:rPr>
              <a:t>- Official authority alerts must always override app AI guidance.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911100-72C7-413F-92C9-F8476548FE7C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952750" cy="20955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9E5D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57D717-EE11-4014-A818-53BA78B392CF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76200" cy="2095500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9CBCB3-0122-4112-87FF-D84C66121F0D}"/>
              </a:ext>
            </a:extLst>
          </p:cNvPr>
          <p:cNvSpPr>
            <a:spLocks noGrp="1"/>
          </p:cNvSpPr>
          <p:nvPr/>
        </p:nvSpPr>
        <p:spPr>
          <a:xfrm>
            <a:off x="8324850" y="2905125"/>
            <a:ext cx="2495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352A"/>
                </a:solidFill>
              </a:defRPr>
            </a:pPr>
            <a:r>
              <a:rPr sz="1800" b="1">
                <a:solidFill>
                  <a:srgbClr val="12352A"/>
                </a:solidFill>
              </a:rPr>
              <a:t>Future roadmap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DE3C9-0445-44AD-A28C-ED017BC1C173}"/>
              </a:ext>
            </a:extLst>
          </p:cNvPr>
          <p:cNvSpPr>
            <a:spLocks noGrp="1"/>
          </p:cNvSpPr>
          <p:nvPr/>
        </p:nvSpPr>
        <p:spPr>
          <a:xfrm>
            <a:off x="8324850" y="3305175"/>
            <a:ext cx="24955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D6B63"/>
                </a:solidFill>
              </a:defRPr>
            </a:pPr>
            <a:r>
              <a:rPr sz="1350" b="0">
                <a:solidFill>
                  <a:srgbClr val="5D6B63"/>
                </a:solidFill>
              </a:rPr>
              <a:t>Live map markers, SMS fallback, Sinhala/Tamil/English support, analytics dashboard, push alerts, and model confidence monitoring.</a:t>
            </a:r>
          </a:p>
        </p:txBody>
      </p:sp>
    </p:spTree>
    <p:extLst>
      <p:ext uri="{BB962C8B-B14F-4D97-AF65-F5344CB8AC3E}">
        <p14:creationId xmlns:p14="http://schemas.microsoft.com/office/powerpoint/2010/main" val="1467792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1F4FB757-C80A-4785-93CC-AF0926DF37A7}"/>
              </a:ext>
            </a:extLst>
          </p:cNvPr>
          <p:cNvSpPr>
            <a:spLocks noGrp="1"/>
          </p:cNvSpPr>
          <p:nvPr/>
        </p:nvSpPr>
        <p:spPr>
          <a:xfrm>
            <a:off x="9906000" y="190500"/>
            <a:ext cx="1809750" cy="1809750"/>
          </a:xfrm>
          <a:prstGeom prst="ellipse">
            <a:avLst/>
          </a:prstGeom>
          <a:solidFill>
            <a:srgbClr val="DDF1E5"/>
          </a:solidFill>
          <a:ln w="0">
            <a:noFill/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4ADB40B-A094-4D36-BE39-8D25A460BE11}"/>
              </a:ext>
            </a:extLst>
          </p:cNvPr>
          <p:cNvSpPr>
            <a:spLocks noGrp="1"/>
          </p:cNvSpPr>
          <p:nvPr/>
        </p:nvSpPr>
        <p:spPr>
          <a:xfrm>
            <a:off x="171450" y="5476875"/>
            <a:ext cx="1143000" cy="1143000"/>
          </a:xfrm>
          <a:prstGeom prst="ellipse">
            <a:avLst/>
          </a:prstGeom>
          <a:solidFill>
            <a:srgbClr val="E7F2DA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EC925-0091-442A-9268-EBD85331FD3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400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8A978F"/>
                </a:solidFill>
              </a:defRPr>
            </a:pPr>
            <a:r>
              <a:rPr sz="825" b="0">
                <a:solidFill>
                  <a:srgbClr val="8A978F"/>
                </a:solidFill>
              </a:rPr>
              <a:t>Alpha Community final project | 28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6F5960-E75D-4AAD-9867-74A5034C26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2222"/>
            </a:avLst>
          </a:prstGeom>
          <a:solidFill>
            <a:srgbClr val="12352A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2FFB5B-F44C-41BD-B1EE-6542C2D0D8CD}"/>
              </a:ext>
            </a:extLst>
          </p:cNvPr>
          <p:cNvSpPr>
            <a:spLocks noGrp="1"/>
          </p:cNvSpPr>
          <p:nvPr/>
        </p:nvSpPr>
        <p:spPr>
          <a:xfrm>
            <a:off x="6953250" y="762000"/>
            <a:ext cx="3905250" cy="5143500"/>
          </a:xfrm>
          <a:prstGeom prst="roundRect">
            <a:avLst>
              <a:gd name="adj" fmla="val 5854"/>
            </a:avLst>
          </a:prstGeom>
          <a:solidFill>
            <a:srgbClr val="0F875F"/>
          </a:solidFill>
          <a:ln w="0">
            <a:noFill/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6800789-7FAA-451D-AC91-D4559A8B5B9C}"/>
              </a:ext>
            </a:extLst>
          </p:cNvPr>
          <p:cNvSpPr>
            <a:spLocks noGrp="1"/>
          </p:cNvSpPr>
          <p:nvPr/>
        </p:nvSpPr>
        <p:spPr>
          <a:xfrm>
            <a:off x="7524750" y="1123950"/>
            <a:ext cx="2571750" cy="4400550"/>
          </a:xfrm>
          <a:prstGeom prst="roundRect">
            <a:avLst>
              <a:gd name="adj" fmla="val 8889"/>
            </a:avLst>
          </a:prstGeom>
          <a:solidFill>
            <a:srgbClr val="10191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F49C72-EF0E-4DE8-BF39-E157E5C8F100}"/>
              </a:ext>
            </a:extLst>
          </p:cNvPr>
          <p:cNvSpPr>
            <a:spLocks noGrp="1"/>
          </p:cNvSpPr>
          <p:nvPr/>
        </p:nvSpPr>
        <p:spPr>
          <a:xfrm>
            <a:off x="7696200" y="1333500"/>
            <a:ext cx="2228850" cy="3981450"/>
          </a:xfrm>
          <a:prstGeom prst="roundRect">
            <a:avLst>
              <a:gd name="adj" fmla="val 10256"/>
            </a:avLst>
          </a:prstGeom>
          <a:solidFill>
            <a:srgbClr val="F8FBF7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E59894-8555-4E4A-A8F1-20257FBF4FDF}"/>
              </a:ext>
            </a:extLst>
          </p:cNvPr>
          <p:cNvSpPr>
            <a:spLocks noGrp="1"/>
          </p:cNvSpPr>
          <p:nvPr/>
        </p:nvSpPr>
        <p:spPr>
          <a:xfrm>
            <a:off x="7905750" y="16002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12352A"/>
                </a:solidFill>
              </a:defRPr>
            </a:pPr>
            <a:r>
              <a:rPr sz="1875" b="1">
                <a:solidFill>
                  <a:srgbClr val="12352A"/>
                </a:solidFill>
              </a:rPr>
              <a:t>Alpha Control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77A7D3-0535-4D35-AF37-C14990EFC638}"/>
              </a:ext>
            </a:extLst>
          </p:cNvPr>
          <p:cNvSpPr>
            <a:spLocks noGrp="1"/>
          </p:cNvSpPr>
          <p:nvPr/>
        </p:nvSpPr>
        <p:spPr>
          <a:xfrm>
            <a:off x="7924800" y="2152650"/>
            <a:ext cx="1771650" cy="1047750"/>
          </a:xfrm>
          <a:prstGeom prst="roundRect">
            <a:avLst>
              <a:gd name="adj" fmla="val 14545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3754E2-0013-41AE-A55D-1B6181CD31E9}"/>
              </a:ext>
            </a:extLst>
          </p:cNvPr>
          <p:cNvSpPr>
            <a:spLocks noGrp="1"/>
          </p:cNvSpPr>
          <p:nvPr/>
        </p:nvSpPr>
        <p:spPr>
          <a:xfrm>
            <a:off x="8115300" y="236220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Automatic risk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3A6439-022A-40F0-B19E-DE53C4B6920D}"/>
              </a:ext>
            </a:extLst>
          </p:cNvPr>
          <p:cNvSpPr>
            <a:spLocks noGrp="1"/>
          </p:cNvSpPr>
          <p:nvPr/>
        </p:nvSpPr>
        <p:spPr>
          <a:xfrm>
            <a:off x="8115300" y="2686050"/>
            <a:ext cx="1390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EAF8F0"/>
                </a:solidFill>
              </a:defRPr>
            </a:pPr>
            <a:r>
              <a:rPr sz="1200" b="0">
                <a:solidFill>
                  <a:srgbClr val="EAF8F0"/>
                </a:solidFill>
              </a:rPr>
              <a:t>Live field intelligence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5D4603-4067-461A-B050-602143284CD5}"/>
              </a:ext>
            </a:extLst>
          </p:cNvPr>
          <p:cNvSpPr>
            <a:spLocks noGrp="1"/>
          </p:cNvSpPr>
          <p:nvPr/>
        </p:nvSpPr>
        <p:spPr>
          <a:xfrm>
            <a:off x="7962900" y="3381375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Risk cards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16B890-B346-4A27-9807-C3C23B09FD48}"/>
              </a:ext>
            </a:extLst>
          </p:cNvPr>
          <p:cNvSpPr>
            <a:spLocks noGrp="1"/>
          </p:cNvSpPr>
          <p:nvPr/>
        </p:nvSpPr>
        <p:spPr>
          <a:xfrm>
            <a:off x="8801100" y="33813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Live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3B7A1D4-1DDA-460C-8F2E-D1E3E8F1D8D0}"/>
              </a:ext>
            </a:extLst>
          </p:cNvPr>
          <p:cNvSpPr>
            <a:spLocks noGrp="1"/>
          </p:cNvSpPr>
          <p:nvPr/>
        </p:nvSpPr>
        <p:spPr>
          <a:xfrm>
            <a:off x="7962900" y="3705225"/>
            <a:ext cx="169545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182BF2-4E02-4FA2-8BB6-BEB8827E92A4}"/>
              </a:ext>
            </a:extLst>
          </p:cNvPr>
          <p:cNvSpPr>
            <a:spLocks noGrp="1"/>
          </p:cNvSpPr>
          <p:nvPr/>
        </p:nvSpPr>
        <p:spPr>
          <a:xfrm>
            <a:off x="7962900" y="3705225"/>
            <a:ext cx="593408" cy="85725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3F7307-37FF-49E1-B409-8B3E5A3AF5A3}"/>
              </a:ext>
            </a:extLst>
          </p:cNvPr>
          <p:cNvSpPr>
            <a:spLocks noGrp="1"/>
          </p:cNvSpPr>
          <p:nvPr/>
        </p:nvSpPr>
        <p:spPr>
          <a:xfrm>
            <a:off x="7962900" y="3914775"/>
            <a:ext cx="1695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2352A"/>
                </a:solidFill>
              </a:defRPr>
            </a:pPr>
            <a:r>
              <a:rPr sz="1275" b="1">
                <a:solidFill>
                  <a:srgbClr val="12352A"/>
                </a:solidFill>
              </a:rPr>
              <a:t>Reports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70BDAD-3E40-4131-8128-6045ED397102}"/>
              </a:ext>
            </a:extLst>
          </p:cNvPr>
          <p:cNvSpPr>
            <a:spLocks noGrp="1"/>
          </p:cNvSpPr>
          <p:nvPr/>
        </p:nvSpPr>
        <p:spPr>
          <a:xfrm>
            <a:off x="8801100" y="3914775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5D6B63"/>
                </a:solidFill>
              </a:defRPr>
            </a:pPr>
            <a:r>
              <a:rPr sz="1200" b="0">
                <a:solidFill>
                  <a:srgbClr val="5D6B63"/>
                </a:solidFill>
              </a:rPr>
              <a:t>Synced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493EB8-091F-4DFA-99C8-DE63237ADF69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1695450" cy="85725"/>
          </a:xfrm>
          <a:prstGeom prst="roundRect">
            <a:avLst>
              <a:gd name="adj" fmla="val 50000"/>
            </a:avLst>
          </a:prstGeom>
          <a:solidFill>
            <a:srgbClr val="DDEBE3"/>
          </a:solidFill>
          <a:ln w="0">
            <a:noFill/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8AA964-BECA-4021-A3F8-13D2D1A921B6}"/>
              </a:ext>
            </a:extLst>
          </p:cNvPr>
          <p:cNvSpPr>
            <a:spLocks noGrp="1"/>
          </p:cNvSpPr>
          <p:nvPr/>
        </p:nvSpPr>
        <p:spPr>
          <a:xfrm>
            <a:off x="7962900" y="4238625"/>
            <a:ext cx="864680" cy="85725"/>
          </a:xfrm>
          <a:prstGeom prst="roundRect">
            <a:avLst>
              <a:gd name="adj" fmla="val 50000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B3D1716-F4F0-4CAC-965B-2194F1551926}"/>
              </a:ext>
            </a:extLst>
          </p:cNvPr>
          <p:cNvSpPr>
            <a:spLocks noGrp="1"/>
          </p:cNvSpPr>
          <p:nvPr/>
        </p:nvSpPr>
        <p:spPr>
          <a:xfrm>
            <a:off x="8001000" y="4762500"/>
            <a:ext cx="1619250" cy="361950"/>
          </a:xfrm>
          <a:prstGeom prst="roundRect">
            <a:avLst>
              <a:gd name="adj" fmla="val 42105"/>
            </a:avLst>
          </a:prstGeom>
          <a:solidFill>
            <a:srgbClr val="0A6B49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843CCF-2B9F-4E65-B1EC-E7A955F79D09}"/>
              </a:ext>
            </a:extLst>
          </p:cNvPr>
          <p:cNvSpPr>
            <a:spLocks noGrp="1"/>
          </p:cNvSpPr>
          <p:nvPr/>
        </p:nvSpPr>
        <p:spPr>
          <a:xfrm>
            <a:off x="8001000" y="485775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Refresh live assessment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40DD09-E7DB-4734-867B-47C6D56B64FC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6096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Alpha Community is a complete community safety ecosystem.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C5F229-4E45-42E9-9A89-34BDE4582BB4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5905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D7F1E3"/>
                </a:solidFill>
              </a:defRPr>
            </a:pPr>
            <a:r>
              <a:rPr sz="1950" b="0">
                <a:solidFill>
                  <a:srgbClr val="D7F1E3"/>
                </a:solidFill>
              </a:rPr>
              <a:t>Mobile app + IoT + AI + Firebase + offline database + role-based response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1D0F0D-782F-45F6-8B0B-395357214774}"/>
              </a:ext>
            </a:extLst>
          </p:cNvPr>
          <p:cNvSpPr>
            <a:spLocks noGrp="1"/>
          </p:cNvSpPr>
          <p:nvPr/>
        </p:nvSpPr>
        <p:spPr>
          <a:xfrm>
            <a:off x="800100" y="4524375"/>
            <a:ext cx="5905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F1FFF7"/>
                </a:solidFill>
              </a:defRPr>
            </a:pPr>
            <a:r>
              <a:rPr sz="1725" b="0">
                <a:solidFill>
                  <a:srgbClr val="F1FFF7"/>
                </a:solidFill>
              </a:rPr>
              <a:t>- Useful for rural and urban communities</a:t>
            </a:r>
          </a:p>
          <a:p>
            <a:pPr algn="l">
              <a:defRPr sz="1725" b="0">
                <a:solidFill>
                  <a:srgbClr val="F1FFF7"/>
                </a:solidFill>
              </a:defRPr>
            </a:pPr>
            <a:r>
              <a:rPr sz="1725" b="0">
                <a:solidFill>
                  <a:srgbClr val="F1FFF7"/>
                </a:solidFill>
              </a:rPr>
              <a:t>- Designed for citizens, officers, and admins</a:t>
            </a:r>
          </a:p>
          <a:p>
            <a:pPr algn="l">
              <a:defRPr sz="1725" b="0">
                <a:solidFill>
                  <a:srgbClr val="F1FFF7"/>
                </a:solidFill>
              </a:defRPr>
            </a:pPr>
            <a:r>
              <a:rPr sz="1725" b="0">
                <a:solidFill>
                  <a:srgbClr val="F1FFF7"/>
                </a:solidFill>
              </a:rPr>
              <a:t>- Ready for stronger datasets, real sensors, and production release</a:t>
            </a:r>
          </a:p>
        </p:txBody>
      </p:sp>
    </p:spTree>
    <p:extLst>
      <p:ext uri="{BB962C8B-B14F-4D97-AF65-F5344CB8AC3E}">
        <p14:creationId xmlns:p14="http://schemas.microsoft.com/office/powerpoint/2010/main" val="4888939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3104</Words>
  <Application>Microsoft Office PowerPoint</Application>
  <DocSecurity>0</DocSecurity>
  <PresentationFormat>Widescreen</PresentationFormat>
  <Paragraphs>393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Sahan Devinda</cp:lastModifiedBy>
  <cp:revision>1</cp:revision>
  <dcterms:created xsi:type="dcterms:W3CDTF">2026-07-29T22:50:14Z</dcterms:created>
  <dcterms:modified xsi:type="dcterms:W3CDTF">2026-08-05T04:40:14Z</dcterms:modified>
</cp:coreProperties>
</file>